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4" roundtripDataSignature="AMtx7mgEnXbeEjSU9TCdVgtHxHFZXajy8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4"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 name="Shape 44"/>
        <p:cNvGrpSpPr/>
        <p:nvPr/>
      </p:nvGrpSpPr>
      <p:grpSpPr>
        <a:xfrm>
          <a:off x="0" y="0"/>
          <a:ext cx="0" cy="0"/>
          <a:chOff x="0" y="0"/>
          <a:chExt cx="0" cy="0"/>
        </a:xfrm>
      </p:grpSpPr>
      <p:sp>
        <p:nvSpPr>
          <p:cNvPr id="45" name="Google Shape;4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 name="Google Shape;4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 name="Google Shape;6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5" name="Shape 15"/>
        <p:cNvGrpSpPr/>
        <p:nvPr/>
      </p:nvGrpSpPr>
      <p:grpSpPr>
        <a:xfrm>
          <a:off x="0" y="0"/>
          <a:ext cx="0" cy="0"/>
          <a:chOff x="0" y="0"/>
          <a:chExt cx="0" cy="0"/>
        </a:xfrm>
      </p:grpSpPr>
      <p:sp>
        <p:nvSpPr>
          <p:cNvPr id="16" name="Google Shape;16;p1"/>
          <p:cNvSpPr/>
          <p:nvPr/>
        </p:nvSpPr>
        <p:spPr>
          <a:xfrm>
            <a:off x="0" y="0"/>
            <a:ext cx="164592" cy="5143500"/>
          </a:xfrm>
          <a:prstGeom prst="rect">
            <a:avLst/>
          </a:prstGeom>
          <a:solidFill>
            <a:srgbClr val="E05C00"/>
          </a:solidFill>
          <a:ln cap="flat" cmpd="sng" w="12700">
            <a:solidFill>
              <a:srgbClr val="E05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457200" y="1005840"/>
            <a:ext cx="82296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Calibri"/>
              <a:buNone/>
            </a:pPr>
            <a:r>
              <a:rPr b="1" i="0" lang="en-US" sz="3600" u="none" cap="none" strike="noStrike">
                <a:solidFill>
                  <a:srgbClr val="FFFFFF"/>
                </a:solidFill>
                <a:latin typeface="Calibri"/>
                <a:ea typeface="Calibri"/>
                <a:cs typeface="Calibri"/>
                <a:sym typeface="Calibri"/>
              </a:rPr>
              <a:t>Replicating the Adam Optimizer</a:t>
            </a:r>
            <a:endParaRPr b="0" i="0" sz="3600" u="none" cap="none" strike="noStrike">
              <a:solidFill>
                <a:schemeClr val="dk1"/>
              </a:solidFill>
              <a:latin typeface="Calibri"/>
              <a:ea typeface="Calibri"/>
              <a:cs typeface="Calibri"/>
              <a:sym typeface="Calibri"/>
            </a:endParaRPr>
          </a:p>
        </p:txBody>
      </p:sp>
      <p:sp>
        <p:nvSpPr>
          <p:cNvPr id="18" name="Google Shape;18;p1"/>
          <p:cNvSpPr/>
          <p:nvPr/>
        </p:nvSpPr>
        <p:spPr>
          <a:xfrm>
            <a:off x="457200" y="2057400"/>
            <a:ext cx="82296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7B2A"/>
              </a:buClr>
              <a:buSzPts val="1800"/>
              <a:buFont typeface="Calibri"/>
              <a:buNone/>
            </a:pPr>
            <a:r>
              <a:rPr b="0" i="0" lang="en-US" sz="1800" u="none" cap="none" strike="noStrike">
                <a:solidFill>
                  <a:srgbClr val="F47B2A"/>
                </a:solidFill>
                <a:latin typeface="Calibri"/>
                <a:ea typeface="Calibri"/>
                <a:cs typeface="Calibri"/>
                <a:sym typeface="Calibri"/>
              </a:rPr>
              <a:t>Kingma &amp; Ba, ICLR 2015 — Figures 1 &amp; 2</a:t>
            </a:r>
            <a:endParaRPr b="0" i="0" sz="1800" u="none" cap="none" strike="noStrike">
              <a:solidFill>
                <a:schemeClr val="dk1"/>
              </a:solidFill>
              <a:latin typeface="Calibri"/>
              <a:ea typeface="Calibri"/>
              <a:cs typeface="Calibri"/>
              <a:sym typeface="Calibri"/>
            </a:endParaRPr>
          </a:p>
        </p:txBody>
      </p:sp>
      <p:cxnSp>
        <p:nvCxnSpPr>
          <p:cNvPr id="19" name="Google Shape;19;p1"/>
          <p:cNvCxnSpPr/>
          <p:nvPr/>
        </p:nvCxnSpPr>
        <p:spPr>
          <a:xfrm>
            <a:off x="457200" y="2578608"/>
            <a:ext cx="4114800" cy="0"/>
          </a:xfrm>
          <a:prstGeom prst="straightConnector1">
            <a:avLst/>
          </a:prstGeom>
          <a:noFill/>
          <a:ln cap="flat" cmpd="sng" w="12700">
            <a:solidFill>
              <a:srgbClr val="1B2E45"/>
            </a:solidFill>
            <a:prstDash val="solid"/>
            <a:round/>
            <a:headEnd len="sm" w="sm" type="none"/>
            <a:tailEnd len="sm" w="sm" type="none"/>
          </a:ln>
        </p:spPr>
      </p:cxnSp>
      <p:sp>
        <p:nvSpPr>
          <p:cNvPr id="20" name="Google Shape;20;p1"/>
          <p:cNvSpPr/>
          <p:nvPr/>
        </p:nvSpPr>
        <p:spPr>
          <a:xfrm>
            <a:off x="457200" y="274320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300"/>
              <a:buFont typeface="Calibri"/>
              <a:buNone/>
            </a:pPr>
            <a:r>
              <a:rPr b="1" i="0" lang="en-US" sz="1300" u="none" cap="none" strike="noStrike">
                <a:solidFill>
                  <a:srgbClr val="CBD5E1"/>
                </a:solidFill>
                <a:latin typeface="Calibri"/>
                <a:ea typeface="Calibri"/>
                <a:cs typeface="Calibri"/>
                <a:sym typeface="Calibri"/>
              </a:rPr>
              <a:t>Experiment: </a:t>
            </a:r>
            <a:r>
              <a:rPr b="0" i="0" lang="en-US" sz="1300" u="none" cap="none" strike="noStrike">
                <a:solidFill>
                  <a:srgbClr val="CBD5E1"/>
                </a:solidFill>
                <a:latin typeface="Calibri"/>
                <a:ea typeface="Calibri"/>
                <a:cs typeface="Calibri"/>
                <a:sym typeface="Calibri"/>
              </a:rPr>
              <a:t>L2 Logistic Regression (MNIST) + MLP with Dropout (MNIST)</a:t>
            </a:r>
            <a:endParaRPr b="0" i="0" sz="1300" u="none" cap="none" strike="noStrike">
              <a:solidFill>
                <a:schemeClr val="dk1"/>
              </a:solidFill>
              <a:latin typeface="Calibri"/>
              <a:ea typeface="Calibri"/>
              <a:cs typeface="Calibri"/>
              <a:sym typeface="Calibri"/>
            </a:endParaRPr>
          </a:p>
        </p:txBody>
      </p:sp>
      <p:sp>
        <p:nvSpPr>
          <p:cNvPr id="21" name="Google Shape;21;p1"/>
          <p:cNvSpPr/>
          <p:nvPr/>
        </p:nvSpPr>
        <p:spPr>
          <a:xfrm>
            <a:off x="457200" y="315468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300"/>
              <a:buFont typeface="Calibri"/>
              <a:buNone/>
            </a:pPr>
            <a:r>
              <a:rPr b="1" i="0" lang="en-US" sz="1300" u="none" cap="none" strike="noStrike">
                <a:solidFill>
                  <a:srgbClr val="CBD5E1"/>
                </a:solidFill>
                <a:latin typeface="Calibri"/>
                <a:ea typeface="Calibri"/>
                <a:cs typeface="Calibri"/>
                <a:sym typeface="Calibri"/>
              </a:rPr>
              <a:t>Optimizers: </a:t>
            </a:r>
            <a:r>
              <a:rPr b="0" i="0" lang="en-US" sz="1300" u="none" cap="none" strike="noStrike">
                <a:solidFill>
                  <a:srgbClr val="CBD5E1"/>
                </a:solidFill>
                <a:latin typeface="Calibri"/>
                <a:ea typeface="Calibri"/>
                <a:cs typeface="Calibri"/>
                <a:sym typeface="Calibri"/>
              </a:rPr>
              <a:t>Adam (hand-rolled) vs. SGD, SGD+Nesterov, AdaGrad, RMSprop</a:t>
            </a:r>
            <a:endParaRPr b="0" i="0" sz="1300" u="none" cap="none" strike="noStrike">
              <a:solidFill>
                <a:schemeClr val="dk1"/>
              </a:solidFill>
              <a:latin typeface="Calibri"/>
              <a:ea typeface="Calibri"/>
              <a:cs typeface="Calibri"/>
              <a:sym typeface="Calibri"/>
            </a:endParaRPr>
          </a:p>
        </p:txBody>
      </p:sp>
      <p:sp>
        <p:nvSpPr>
          <p:cNvPr id="22" name="Google Shape;22;p1"/>
          <p:cNvSpPr/>
          <p:nvPr/>
        </p:nvSpPr>
        <p:spPr>
          <a:xfrm>
            <a:off x="457200" y="356616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1300"/>
              <a:buFont typeface="Calibri"/>
              <a:buNone/>
            </a:pPr>
            <a:r>
              <a:rPr b="1" i="0" lang="en-US" sz="1300" u="none" cap="none" strike="noStrike">
                <a:solidFill>
                  <a:srgbClr val="CBD5E1"/>
                </a:solidFill>
                <a:latin typeface="Calibri"/>
                <a:ea typeface="Calibri"/>
                <a:cs typeface="Calibri"/>
                <a:sym typeface="Calibri"/>
              </a:rPr>
              <a:t>Seeds: </a:t>
            </a:r>
            <a:r>
              <a:rPr b="0" i="0" lang="en-US" sz="1300" u="none" cap="none" strike="noStrike">
                <a:solidFill>
                  <a:srgbClr val="CBD5E1"/>
                </a:solidFill>
                <a:latin typeface="Calibri"/>
                <a:ea typeface="Calibri"/>
                <a:cs typeface="Calibri"/>
                <a:sym typeface="Calibri"/>
              </a:rPr>
              <a:t>3 seeds, mean ± 1σ shown        </a:t>
            </a:r>
            <a:r>
              <a:rPr b="1" i="0" lang="en-US" sz="1300" u="none" cap="none" strike="noStrike">
                <a:solidFill>
                  <a:srgbClr val="CBD5E1"/>
                </a:solidFill>
                <a:latin typeface="Calibri"/>
                <a:ea typeface="Calibri"/>
                <a:cs typeface="Calibri"/>
                <a:sym typeface="Calibri"/>
              </a:rPr>
              <a:t>LR Schedule: </a:t>
            </a:r>
            <a:r>
              <a:rPr b="0" i="0" lang="en-US" sz="1300" u="none" cap="none" strike="noStrike">
                <a:solidFill>
                  <a:srgbClr val="CBD5E1"/>
                </a:solidFill>
                <a:latin typeface="Calibri"/>
                <a:ea typeface="Calibri"/>
                <a:cs typeface="Calibri"/>
                <a:sym typeface="Calibri"/>
              </a:rPr>
              <a:t>αₜ = α / √t</a:t>
            </a:r>
            <a:endParaRPr b="0" i="0" sz="1300" u="none" cap="none" strike="noStrike">
              <a:solidFill>
                <a:schemeClr val="dk1"/>
              </a:solidFill>
              <a:latin typeface="Calibri"/>
              <a:ea typeface="Calibri"/>
              <a:cs typeface="Calibri"/>
              <a:sym typeface="Calibri"/>
            </a:endParaRPr>
          </a:p>
        </p:txBody>
      </p:sp>
      <p:sp>
        <p:nvSpPr>
          <p:cNvPr id="23" name="Google Shape;23;p1"/>
          <p:cNvSpPr/>
          <p:nvPr/>
        </p:nvSpPr>
        <p:spPr>
          <a:xfrm>
            <a:off x="457200" y="466344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1000"/>
              <a:buFont typeface="Calibri"/>
              <a:buNone/>
            </a:pPr>
            <a:r>
              <a:rPr b="0" i="0" lang="en-US" sz="1000" u="none" cap="none" strike="noStrike">
                <a:solidFill>
                  <a:srgbClr val="64748B"/>
                </a:solidFill>
                <a:latin typeface="Calibri"/>
                <a:ea typeface="Calibri"/>
                <a:cs typeface="Calibri"/>
                <a:sym typeface="Calibri"/>
              </a:rPr>
              <a:t>MNIST Dataset  ·  PyTorch  ·  Custom Adam via torch.autograd</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 name="Shape 28"/>
        <p:cNvGrpSpPr/>
        <p:nvPr/>
      </p:nvGrpSpPr>
      <p:grpSpPr>
        <a:xfrm>
          <a:off x="0" y="0"/>
          <a:ext cx="0" cy="0"/>
          <a:chOff x="0" y="0"/>
          <a:chExt cx="0" cy="0"/>
        </a:xfrm>
      </p:grpSpPr>
      <p:sp>
        <p:nvSpPr>
          <p:cNvPr id="29" name="Google Shape;29;p2"/>
          <p:cNvSpPr/>
          <p:nvPr/>
        </p:nvSpPr>
        <p:spPr>
          <a:xfrm>
            <a:off x="365760" y="164592"/>
            <a:ext cx="1645920" cy="292608"/>
          </a:xfrm>
          <a:prstGeom prst="roundRect">
            <a:avLst>
              <a:gd fmla="val 18750" name="adj"/>
            </a:avLst>
          </a:prstGeom>
          <a:solidFill>
            <a:srgbClr val="E05C00"/>
          </a:solidFill>
          <a:ln cap="flat" cmpd="sng" w="12700">
            <a:solidFill>
              <a:srgbClr val="E05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365760" y="164592"/>
            <a:ext cx="16459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PAPER SUMMARY</a:t>
            </a:r>
            <a:endParaRPr b="0" i="0" sz="800" u="none" cap="none" strike="noStrike">
              <a:solidFill>
                <a:schemeClr val="dk1"/>
              </a:solidFill>
              <a:latin typeface="Calibri"/>
              <a:ea typeface="Calibri"/>
              <a:cs typeface="Calibri"/>
              <a:sym typeface="Calibri"/>
            </a:endParaRPr>
          </a:p>
        </p:txBody>
      </p:sp>
      <p:sp>
        <p:nvSpPr>
          <p:cNvPr id="31" name="Google Shape;31;p2"/>
          <p:cNvSpPr/>
          <p:nvPr/>
        </p:nvSpPr>
        <p:spPr>
          <a:xfrm>
            <a:off x="365760" y="502920"/>
            <a:ext cx="8412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600"/>
              <a:buFont typeface="Calibri"/>
              <a:buNone/>
            </a:pPr>
            <a:r>
              <a:rPr b="1" i="0" lang="en-US" sz="2600" u="none" cap="none" strike="noStrike">
                <a:solidFill>
                  <a:srgbClr val="1E293B"/>
                </a:solidFill>
                <a:latin typeface="Calibri"/>
                <a:ea typeface="Calibri"/>
                <a:cs typeface="Calibri"/>
                <a:sym typeface="Calibri"/>
              </a:rPr>
              <a:t>Adam: A Method for Stochastic Optimization</a:t>
            </a:r>
            <a:endParaRPr b="0" i="0" sz="2600" u="none" cap="none" strike="noStrike">
              <a:solidFill>
                <a:schemeClr val="dk1"/>
              </a:solidFill>
              <a:latin typeface="Calibri"/>
              <a:ea typeface="Calibri"/>
              <a:cs typeface="Calibri"/>
              <a:sym typeface="Calibri"/>
            </a:endParaRPr>
          </a:p>
        </p:txBody>
      </p:sp>
      <p:sp>
        <p:nvSpPr>
          <p:cNvPr id="32" name="Google Shape;32;p2"/>
          <p:cNvSpPr/>
          <p:nvPr/>
        </p:nvSpPr>
        <p:spPr>
          <a:xfrm>
            <a:off x="365760" y="1143000"/>
            <a:ext cx="2651760" cy="3566160"/>
          </a:xfrm>
          <a:prstGeom prst="rect">
            <a:avLst/>
          </a:prstGeom>
          <a:solidFill>
            <a:srgbClr val="F4F6F8"/>
          </a:solidFill>
          <a:ln cap="flat" cmpd="sng" w="9525">
            <a:solidFill>
              <a:srgbClr val="CBD5E1"/>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365760" y="1143000"/>
            <a:ext cx="2651760" cy="54864"/>
          </a:xfrm>
          <a:prstGeom prst="rect">
            <a:avLst/>
          </a:prstGeom>
          <a:solidFill>
            <a:srgbClr val="E05C00"/>
          </a:solidFill>
          <a:ln cap="flat" cmpd="sng" w="12700">
            <a:solidFill>
              <a:srgbClr val="E05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502920" y="1234440"/>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What is Adam?</a:t>
            </a:r>
            <a:endParaRPr b="0" i="0" sz="1300" u="none" cap="none" strike="noStrike">
              <a:solidFill>
                <a:schemeClr val="dk1"/>
              </a:solidFill>
              <a:latin typeface="Calibri"/>
              <a:ea typeface="Calibri"/>
              <a:cs typeface="Calibri"/>
              <a:sym typeface="Calibri"/>
            </a:endParaRPr>
          </a:p>
        </p:txBody>
      </p:sp>
      <p:sp>
        <p:nvSpPr>
          <p:cNvPr id="35" name="Google Shape;35;p2"/>
          <p:cNvSpPr/>
          <p:nvPr/>
        </p:nvSpPr>
        <p:spPr>
          <a:xfrm>
            <a:off x="502920" y="1664208"/>
            <a:ext cx="2377440" cy="2834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An adaptive learning-rate optimizer that maintains per-parameter first and second moment estimates of gradients. Combines the benefits of AdaGrad (sparse gradients) and RMSprop (non-stationary objectives).</a:t>
            </a:r>
            <a:endParaRPr b="0" i="0" sz="1100" u="none" cap="none" strike="noStrike">
              <a:solidFill>
                <a:schemeClr val="dk1"/>
              </a:solidFill>
              <a:latin typeface="Calibri"/>
              <a:ea typeface="Calibri"/>
              <a:cs typeface="Calibri"/>
              <a:sym typeface="Calibri"/>
            </a:endParaRPr>
          </a:p>
        </p:txBody>
      </p:sp>
      <p:sp>
        <p:nvSpPr>
          <p:cNvPr id="36" name="Google Shape;36;p2"/>
          <p:cNvSpPr/>
          <p:nvPr/>
        </p:nvSpPr>
        <p:spPr>
          <a:xfrm>
            <a:off x="3200400" y="1143000"/>
            <a:ext cx="2651760" cy="3566160"/>
          </a:xfrm>
          <a:prstGeom prst="rect">
            <a:avLst/>
          </a:prstGeom>
          <a:solidFill>
            <a:srgbClr val="F4F6F8"/>
          </a:solidFill>
          <a:ln cap="flat" cmpd="sng" w="9525">
            <a:solidFill>
              <a:srgbClr val="CBD5E1"/>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3200400" y="1143000"/>
            <a:ext cx="2651760" cy="54864"/>
          </a:xfrm>
          <a:prstGeom prst="rect">
            <a:avLst/>
          </a:prstGeom>
          <a:solidFill>
            <a:srgbClr val="E05C00"/>
          </a:solidFill>
          <a:ln cap="flat" cmpd="sng" w="12700">
            <a:solidFill>
              <a:srgbClr val="E05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3337560" y="1234440"/>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Key Claims</a:t>
            </a:r>
            <a:endParaRPr b="0" i="0" sz="1300" u="none" cap="none" strike="noStrike">
              <a:solidFill>
                <a:schemeClr val="dk1"/>
              </a:solidFill>
              <a:latin typeface="Calibri"/>
              <a:ea typeface="Calibri"/>
              <a:cs typeface="Calibri"/>
              <a:sym typeface="Calibri"/>
            </a:endParaRPr>
          </a:p>
        </p:txBody>
      </p:sp>
      <p:sp>
        <p:nvSpPr>
          <p:cNvPr id="39" name="Google Shape;39;p2"/>
          <p:cNvSpPr/>
          <p:nvPr/>
        </p:nvSpPr>
        <p:spPr>
          <a:xfrm>
            <a:off x="3337560" y="1664208"/>
            <a:ext cx="2377440" cy="2834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Adam converges as fast as SGD+Nesterov on dense objectives. Adam matches AdaGrad on sparse features. Adam outperforms all baselines on non-convex MLP + dropout tasks.</a:t>
            </a:r>
            <a:endParaRPr b="0" i="0" sz="1100" u="none" cap="none" strike="noStrike">
              <a:solidFill>
                <a:schemeClr val="dk1"/>
              </a:solidFill>
              <a:latin typeface="Calibri"/>
              <a:ea typeface="Calibri"/>
              <a:cs typeface="Calibri"/>
              <a:sym typeface="Calibri"/>
            </a:endParaRPr>
          </a:p>
        </p:txBody>
      </p:sp>
      <p:sp>
        <p:nvSpPr>
          <p:cNvPr id="40" name="Google Shape;40;p2"/>
          <p:cNvSpPr/>
          <p:nvPr/>
        </p:nvSpPr>
        <p:spPr>
          <a:xfrm>
            <a:off x="6035040" y="1143000"/>
            <a:ext cx="2651760" cy="3566160"/>
          </a:xfrm>
          <a:prstGeom prst="rect">
            <a:avLst/>
          </a:prstGeom>
          <a:solidFill>
            <a:srgbClr val="F4F6F8"/>
          </a:solidFill>
          <a:ln cap="flat" cmpd="sng" w="9525">
            <a:solidFill>
              <a:srgbClr val="CBD5E1"/>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6035040" y="1143000"/>
            <a:ext cx="2651760" cy="54864"/>
          </a:xfrm>
          <a:prstGeom prst="rect">
            <a:avLst/>
          </a:prstGeom>
          <a:solidFill>
            <a:srgbClr val="E05C00"/>
          </a:solidFill>
          <a:ln cap="flat" cmpd="sng" w="12700">
            <a:solidFill>
              <a:srgbClr val="E05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6172200" y="1234440"/>
            <a:ext cx="23774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Algorithm Core</a:t>
            </a:r>
            <a:endParaRPr b="0" i="0" sz="1300" u="none" cap="none" strike="noStrike">
              <a:solidFill>
                <a:schemeClr val="dk1"/>
              </a:solidFill>
              <a:latin typeface="Calibri"/>
              <a:ea typeface="Calibri"/>
              <a:cs typeface="Calibri"/>
              <a:sym typeface="Calibri"/>
            </a:endParaRPr>
          </a:p>
        </p:txBody>
      </p:sp>
      <p:sp>
        <p:nvSpPr>
          <p:cNvPr id="43" name="Google Shape;43;p2"/>
          <p:cNvSpPr/>
          <p:nvPr/>
        </p:nvSpPr>
        <p:spPr>
          <a:xfrm>
            <a:off x="6172200" y="1664208"/>
            <a:ext cx="2377440" cy="2834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mₜ = β₁mₜ₋₁ + (1−β₁)gₜ</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vₜ = β₂vₜ₋₁ + (1−β₂)gₜ²</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θₜ = θₜ₋₁ − α · m̂ₜ / (√v̂ₜ + ε)</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4748B"/>
              </a:buClr>
              <a:buSzPts val="1100"/>
              <a:buFont typeface="Calibri"/>
              <a:buNone/>
            </a:pPr>
            <a:r>
              <a:rPr b="0" i="0" lang="en-US" sz="1100" u="none" cap="none" strike="noStrike">
                <a:solidFill>
                  <a:srgbClr val="64748B"/>
                </a:solidFill>
                <a:latin typeface="Calibri"/>
                <a:ea typeface="Calibri"/>
                <a:cs typeface="Calibri"/>
                <a:sym typeface="Calibri"/>
              </a:rPr>
              <a:t>Defaults: β₁=0.9, β₂=0.999, ε=1e-8</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 name="Shape 48"/>
        <p:cNvGrpSpPr/>
        <p:nvPr/>
      </p:nvGrpSpPr>
      <p:grpSpPr>
        <a:xfrm>
          <a:off x="0" y="0"/>
          <a:ext cx="0" cy="0"/>
          <a:chOff x="0" y="0"/>
          <a:chExt cx="0" cy="0"/>
        </a:xfrm>
      </p:grpSpPr>
      <p:sp>
        <p:nvSpPr>
          <p:cNvPr id="49" name="Google Shape;49;p3"/>
          <p:cNvSpPr/>
          <p:nvPr/>
        </p:nvSpPr>
        <p:spPr>
          <a:xfrm>
            <a:off x="365760" y="164592"/>
            <a:ext cx="1645920" cy="292608"/>
          </a:xfrm>
          <a:prstGeom prst="roundRect">
            <a:avLst>
              <a:gd fmla="val 18750" name="adj"/>
            </a:avLst>
          </a:prstGeom>
          <a:solidFill>
            <a:srgbClr val="E05C00"/>
          </a:solidFill>
          <a:ln cap="flat" cmpd="sng" w="12700">
            <a:solidFill>
              <a:srgbClr val="E05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365760" y="164592"/>
            <a:ext cx="16459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EXPERIMENTAL SETUP</a:t>
            </a:r>
            <a:endParaRPr b="0" i="0" sz="800" u="none" cap="none" strike="noStrike">
              <a:solidFill>
                <a:schemeClr val="dk1"/>
              </a:solidFill>
              <a:latin typeface="Calibri"/>
              <a:ea typeface="Calibri"/>
              <a:cs typeface="Calibri"/>
              <a:sym typeface="Calibri"/>
            </a:endParaRPr>
          </a:p>
        </p:txBody>
      </p:sp>
      <p:sp>
        <p:nvSpPr>
          <p:cNvPr id="51" name="Google Shape;51;p3"/>
          <p:cNvSpPr/>
          <p:nvPr/>
        </p:nvSpPr>
        <p:spPr>
          <a:xfrm>
            <a:off x="365760" y="502920"/>
            <a:ext cx="8412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600"/>
              <a:buFont typeface="Calibri"/>
              <a:buNone/>
            </a:pPr>
            <a:r>
              <a:rPr b="1" i="0" lang="en-US" sz="2600" u="none" cap="none" strike="noStrike">
                <a:solidFill>
                  <a:srgbClr val="1E293B"/>
                </a:solidFill>
                <a:latin typeface="Calibri"/>
                <a:ea typeface="Calibri"/>
                <a:cs typeface="Calibri"/>
                <a:sym typeface="Calibri"/>
              </a:rPr>
              <a:t>Experiment Configuration</a:t>
            </a:r>
            <a:endParaRPr b="0" i="0" sz="2600" u="none" cap="none" strike="noStrike">
              <a:solidFill>
                <a:schemeClr val="dk1"/>
              </a:solidFill>
              <a:latin typeface="Calibri"/>
              <a:ea typeface="Calibri"/>
              <a:cs typeface="Calibri"/>
              <a:sym typeface="Calibri"/>
            </a:endParaRPr>
          </a:p>
        </p:txBody>
      </p:sp>
      <p:sp>
        <p:nvSpPr>
          <p:cNvPr id="52" name="Google Shape;52;p3"/>
          <p:cNvSpPr/>
          <p:nvPr/>
        </p:nvSpPr>
        <p:spPr>
          <a:xfrm>
            <a:off x="365760" y="1143000"/>
            <a:ext cx="3840480" cy="3611880"/>
          </a:xfrm>
          <a:prstGeom prst="rect">
            <a:avLst/>
          </a:prstGeom>
          <a:solidFill>
            <a:srgbClr val="F4F6F8"/>
          </a:solidFill>
          <a:ln cap="flat" cmpd="sng" w="9525">
            <a:solidFill>
              <a:srgbClr val="CBD5E1"/>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365760" y="1143000"/>
            <a:ext cx="3840480" cy="45720"/>
          </a:xfrm>
          <a:prstGeom prst="rect">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502920" y="1234440"/>
            <a:ext cx="35661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Experiment 1 — Logistic Regression</a:t>
            </a:r>
            <a:endParaRPr b="0" i="0" sz="1300" u="none" cap="none" strike="noStrike">
              <a:solidFill>
                <a:schemeClr val="dk1"/>
              </a:solidFill>
              <a:latin typeface="Calibri"/>
              <a:ea typeface="Calibri"/>
              <a:cs typeface="Calibri"/>
              <a:sym typeface="Calibri"/>
            </a:endParaRPr>
          </a:p>
        </p:txBody>
      </p:sp>
      <p:sp>
        <p:nvSpPr>
          <p:cNvPr id="55" name="Google Shape;55;p3"/>
          <p:cNvSpPr/>
          <p:nvPr/>
        </p:nvSpPr>
        <p:spPr>
          <a:xfrm>
            <a:off x="502920" y="1627632"/>
            <a:ext cx="3566160" cy="3017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1" i="0" lang="en-US" sz="1150" u="none" cap="none" strike="noStrike">
                <a:solidFill>
                  <a:srgbClr val="64748B"/>
                </a:solidFill>
                <a:latin typeface="Calibri"/>
                <a:ea typeface="Calibri"/>
                <a:cs typeface="Calibri"/>
                <a:sym typeface="Calibri"/>
              </a:rPr>
              <a:t>Dataset: </a:t>
            </a:r>
            <a:r>
              <a:rPr b="0" i="0" lang="en-US" sz="1150" u="none" cap="none" strike="noStrike">
                <a:solidFill>
                  <a:srgbClr val="64748B"/>
                </a:solidFill>
                <a:latin typeface="Calibri"/>
                <a:ea typeface="Calibri"/>
                <a:cs typeface="Calibri"/>
                <a:sym typeface="Calibri"/>
              </a:rPr>
              <a:t>MNIST (784-dim pixel vectors)</a:t>
            </a:r>
            <a:br>
              <a:rPr b="0" i="0" lang="en-US" sz="1150" u="none" cap="none" strike="noStrike">
                <a:solidFill>
                  <a:srgbClr val="64748B"/>
                </a:solidFill>
                <a:latin typeface="Calibri"/>
                <a:ea typeface="Calibri"/>
                <a:cs typeface="Calibri"/>
                <a:sym typeface="Calibri"/>
              </a:rPr>
            </a:br>
            <a:r>
              <a:rPr b="1" i="0" lang="en-US" sz="1150" u="none" cap="none" strike="noStrike">
                <a:solidFill>
                  <a:srgbClr val="64748B"/>
                </a:solidFill>
                <a:latin typeface="Calibri"/>
                <a:ea typeface="Calibri"/>
                <a:cs typeface="Calibri"/>
                <a:sym typeface="Calibri"/>
              </a:rPr>
              <a:t>Model: </a:t>
            </a:r>
            <a:r>
              <a:rPr b="0" i="0" lang="en-US" sz="1150" u="none" cap="none" strike="noStrike">
                <a:solidFill>
                  <a:srgbClr val="64748B"/>
                </a:solidFill>
                <a:latin typeface="Calibri"/>
                <a:ea typeface="Calibri"/>
                <a:cs typeface="Calibri"/>
                <a:sym typeface="Calibri"/>
              </a:rPr>
              <a:t>Single linear layer, softmax</a:t>
            </a:r>
            <a:br>
              <a:rPr b="0" i="0" lang="en-US" sz="1150" u="none" cap="none" strike="noStrike">
                <a:solidFill>
                  <a:srgbClr val="64748B"/>
                </a:solidFill>
                <a:latin typeface="Calibri"/>
                <a:ea typeface="Calibri"/>
                <a:cs typeface="Calibri"/>
                <a:sym typeface="Calibri"/>
              </a:rPr>
            </a:br>
            <a:r>
              <a:rPr b="1" i="0" lang="en-US" sz="1150" u="none" cap="none" strike="noStrike">
                <a:solidFill>
                  <a:srgbClr val="64748B"/>
                </a:solidFill>
                <a:latin typeface="Calibri"/>
                <a:ea typeface="Calibri"/>
                <a:cs typeface="Calibri"/>
                <a:sym typeface="Calibri"/>
              </a:rPr>
              <a:t>Regularization: </a:t>
            </a:r>
            <a:r>
              <a:rPr b="0" i="0" lang="en-US" sz="1150" u="none" cap="none" strike="noStrike">
                <a:solidFill>
                  <a:srgbClr val="64748B"/>
                </a:solidFill>
                <a:latin typeface="Calibri"/>
                <a:ea typeface="Calibri"/>
                <a:cs typeface="Calibri"/>
                <a:sym typeface="Calibri"/>
              </a:rPr>
              <a:t>L2 weight decay (λ=1e-4)</a:t>
            </a:r>
            <a:br>
              <a:rPr b="0" i="0" lang="en-US" sz="1150" u="none" cap="none" strike="noStrike">
                <a:solidFill>
                  <a:srgbClr val="64748B"/>
                </a:solidFill>
                <a:latin typeface="Calibri"/>
                <a:ea typeface="Calibri"/>
                <a:cs typeface="Calibri"/>
                <a:sym typeface="Calibri"/>
              </a:rPr>
            </a:br>
            <a:r>
              <a:rPr b="1" i="0" lang="en-US" sz="1150" u="none" cap="none" strike="noStrike">
                <a:solidFill>
                  <a:srgbClr val="64748B"/>
                </a:solidFill>
                <a:latin typeface="Calibri"/>
                <a:ea typeface="Calibri"/>
                <a:cs typeface="Calibri"/>
                <a:sym typeface="Calibri"/>
              </a:rPr>
              <a:t>Batch size: </a:t>
            </a:r>
            <a:r>
              <a:rPr b="0" i="0" lang="en-US" sz="1150" u="none" cap="none" strike="noStrike">
                <a:solidFill>
                  <a:srgbClr val="64748B"/>
                </a:solidFill>
                <a:latin typeface="Calibri"/>
                <a:ea typeface="Calibri"/>
                <a:cs typeface="Calibri"/>
                <a:sym typeface="Calibri"/>
              </a:rPr>
              <a:t>128</a:t>
            </a:r>
            <a:br>
              <a:rPr b="0" i="0" lang="en-US" sz="1150" u="none" cap="none" strike="noStrike">
                <a:solidFill>
                  <a:srgbClr val="64748B"/>
                </a:solidFill>
                <a:latin typeface="Calibri"/>
                <a:ea typeface="Calibri"/>
                <a:cs typeface="Calibri"/>
                <a:sym typeface="Calibri"/>
              </a:rPr>
            </a:br>
            <a:r>
              <a:rPr b="1" i="0" lang="en-US" sz="1150" u="none" cap="none" strike="noStrike">
                <a:solidFill>
                  <a:srgbClr val="64748B"/>
                </a:solidFill>
                <a:latin typeface="Calibri"/>
                <a:ea typeface="Calibri"/>
                <a:cs typeface="Calibri"/>
                <a:sym typeface="Calibri"/>
              </a:rPr>
              <a:t>Epochs: </a:t>
            </a:r>
            <a:r>
              <a:rPr b="0" i="0" lang="en-US" sz="1150" u="none" cap="none" strike="noStrike">
                <a:solidFill>
                  <a:srgbClr val="64748B"/>
                </a:solidFill>
                <a:latin typeface="Calibri"/>
                <a:ea typeface="Calibri"/>
                <a:cs typeface="Calibri"/>
                <a:sym typeface="Calibri"/>
              </a:rPr>
              <a:t>45</a:t>
            </a:r>
            <a:br>
              <a:rPr b="0" i="0" lang="en-US" sz="1150" u="none" cap="none" strike="noStrike">
                <a:solidFill>
                  <a:srgbClr val="64748B"/>
                </a:solidFill>
                <a:latin typeface="Calibri"/>
                <a:ea typeface="Calibri"/>
                <a:cs typeface="Calibri"/>
                <a:sym typeface="Calibri"/>
              </a:rPr>
            </a:br>
            <a:r>
              <a:rPr b="1" i="0" lang="en-US" sz="1150" u="none" cap="none" strike="noStrike">
                <a:solidFill>
                  <a:srgbClr val="64748B"/>
                </a:solidFill>
                <a:latin typeface="Calibri"/>
                <a:ea typeface="Calibri"/>
                <a:cs typeface="Calibri"/>
                <a:sym typeface="Calibri"/>
              </a:rPr>
              <a:t>LR schedule: </a:t>
            </a:r>
            <a:r>
              <a:rPr b="0" i="0" lang="en-US" sz="1150" u="none" cap="none" strike="noStrike">
                <a:solidFill>
                  <a:srgbClr val="64748B"/>
                </a:solidFill>
                <a:latin typeface="Calibri"/>
                <a:ea typeface="Calibri"/>
                <a:cs typeface="Calibri"/>
                <a:sym typeface="Calibri"/>
              </a:rPr>
              <a:t>αₜ = α/√t (1-indexed epoch)</a:t>
            </a:r>
            <a:br>
              <a:rPr b="0" i="0" lang="en-US" sz="1150" u="none" cap="none" strike="noStrike">
                <a:solidFill>
                  <a:srgbClr val="64748B"/>
                </a:solidFill>
                <a:latin typeface="Calibri"/>
                <a:ea typeface="Calibri"/>
                <a:cs typeface="Calibri"/>
                <a:sym typeface="Calibri"/>
              </a:rPr>
            </a:br>
            <a:r>
              <a:rPr b="1" i="0" lang="en-US" sz="1150" u="none" cap="none" strike="noStrike">
                <a:solidFill>
                  <a:srgbClr val="64748B"/>
                </a:solidFill>
                <a:latin typeface="Calibri"/>
                <a:ea typeface="Calibri"/>
                <a:cs typeface="Calibri"/>
                <a:sym typeface="Calibri"/>
              </a:rPr>
              <a:t>Seeds: </a:t>
            </a:r>
            <a:r>
              <a:rPr b="0" i="0" lang="en-US" sz="1150" u="none" cap="none" strike="noStrike">
                <a:solidFill>
                  <a:srgbClr val="64748B"/>
                </a:solidFill>
                <a:latin typeface="Calibri"/>
                <a:ea typeface="Calibri"/>
                <a:cs typeface="Calibri"/>
                <a:sym typeface="Calibri"/>
              </a:rPr>
              <a:t>3 (mean ± 1σ bands)</a:t>
            </a:r>
            <a:endParaRPr b="0" i="0" sz="1150" u="none" cap="none" strike="noStrike">
              <a:solidFill>
                <a:schemeClr val="dk1"/>
              </a:solidFill>
              <a:latin typeface="Calibri"/>
              <a:ea typeface="Calibri"/>
              <a:cs typeface="Calibri"/>
              <a:sym typeface="Calibri"/>
            </a:endParaRPr>
          </a:p>
        </p:txBody>
      </p:sp>
      <p:sp>
        <p:nvSpPr>
          <p:cNvPr id="56" name="Google Shape;56;p3"/>
          <p:cNvSpPr/>
          <p:nvPr/>
        </p:nvSpPr>
        <p:spPr>
          <a:xfrm>
            <a:off x="4480560" y="1143000"/>
            <a:ext cx="4297680" cy="3611880"/>
          </a:xfrm>
          <a:prstGeom prst="rect">
            <a:avLst/>
          </a:prstGeom>
          <a:solidFill>
            <a:srgbClr val="F4F6F8"/>
          </a:solidFill>
          <a:ln cap="flat" cmpd="sng" w="9525">
            <a:solidFill>
              <a:srgbClr val="CBD5E1"/>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a:off x="4480560" y="1143000"/>
            <a:ext cx="4297680" cy="45720"/>
          </a:xfrm>
          <a:prstGeom prst="rect">
            <a:avLst/>
          </a:prstGeom>
          <a:solidFill>
            <a:srgbClr val="E05C00"/>
          </a:solidFill>
          <a:ln cap="flat" cmpd="sng" w="12700">
            <a:solidFill>
              <a:srgbClr val="E05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4617720" y="1234440"/>
            <a:ext cx="40233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Experiment 2 — MLP + Dropout</a:t>
            </a:r>
            <a:endParaRPr b="0" i="0" sz="1300" u="none" cap="none" strike="noStrike">
              <a:solidFill>
                <a:schemeClr val="dk1"/>
              </a:solidFill>
              <a:latin typeface="Calibri"/>
              <a:ea typeface="Calibri"/>
              <a:cs typeface="Calibri"/>
              <a:sym typeface="Calibri"/>
            </a:endParaRPr>
          </a:p>
        </p:txBody>
      </p:sp>
      <p:sp>
        <p:nvSpPr>
          <p:cNvPr id="59" name="Google Shape;59;p3"/>
          <p:cNvSpPr/>
          <p:nvPr/>
        </p:nvSpPr>
        <p:spPr>
          <a:xfrm>
            <a:off x="4617720" y="1627632"/>
            <a:ext cx="4023360" cy="3017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1" i="0" lang="en-US" sz="1150" u="none" cap="none" strike="noStrike">
                <a:solidFill>
                  <a:srgbClr val="64748B"/>
                </a:solidFill>
                <a:latin typeface="Calibri"/>
                <a:ea typeface="Calibri"/>
                <a:cs typeface="Calibri"/>
                <a:sym typeface="Calibri"/>
              </a:rPr>
              <a:t>Dataset: </a:t>
            </a:r>
            <a:r>
              <a:rPr b="0" i="0" lang="en-US" sz="1150" u="none" cap="none" strike="noStrike">
                <a:solidFill>
                  <a:srgbClr val="64748B"/>
                </a:solidFill>
                <a:latin typeface="Calibri"/>
                <a:ea typeface="Calibri"/>
                <a:cs typeface="Calibri"/>
                <a:sym typeface="Calibri"/>
              </a:rPr>
              <a:t>MNIST</a:t>
            </a:r>
            <a:br>
              <a:rPr b="0" i="0" lang="en-US" sz="1150" u="none" cap="none" strike="noStrike">
                <a:solidFill>
                  <a:srgbClr val="64748B"/>
                </a:solidFill>
                <a:latin typeface="Calibri"/>
                <a:ea typeface="Calibri"/>
                <a:cs typeface="Calibri"/>
                <a:sym typeface="Calibri"/>
              </a:rPr>
            </a:br>
            <a:r>
              <a:rPr b="1" i="0" lang="en-US" sz="1150" u="none" cap="none" strike="noStrike">
                <a:solidFill>
                  <a:srgbClr val="64748B"/>
                </a:solidFill>
                <a:latin typeface="Calibri"/>
                <a:ea typeface="Calibri"/>
                <a:cs typeface="Calibri"/>
                <a:sym typeface="Calibri"/>
              </a:rPr>
              <a:t>Model: </a:t>
            </a:r>
            <a:r>
              <a:rPr b="0" i="0" lang="en-US" sz="1150" u="none" cap="none" strike="noStrike">
                <a:solidFill>
                  <a:srgbClr val="64748B"/>
                </a:solidFill>
                <a:latin typeface="Calibri"/>
                <a:ea typeface="Calibri"/>
                <a:cs typeface="Calibri"/>
                <a:sym typeface="Calibri"/>
              </a:rPr>
              <a:t>784→</a:t>
            </a:r>
            <a:r>
              <a:rPr lang="en-US" sz="1150">
                <a:solidFill>
                  <a:srgbClr val="64748B"/>
                </a:solidFill>
                <a:latin typeface="Calibri"/>
                <a:ea typeface="Calibri"/>
                <a:cs typeface="Calibri"/>
                <a:sym typeface="Calibri"/>
              </a:rPr>
              <a:t>128</a:t>
            </a:r>
            <a:r>
              <a:rPr b="0" i="0" lang="en-US" sz="1150" u="none" cap="none" strike="noStrike">
                <a:solidFill>
                  <a:srgbClr val="64748B"/>
                </a:solidFill>
                <a:latin typeface="Calibri"/>
                <a:ea typeface="Calibri"/>
                <a:cs typeface="Calibri"/>
                <a:sym typeface="Calibri"/>
              </a:rPr>
              <a:t>(ReLU,Drop)→</a:t>
            </a:r>
            <a:r>
              <a:rPr lang="en-US" sz="1150">
                <a:solidFill>
                  <a:srgbClr val="64748B"/>
                </a:solidFill>
                <a:latin typeface="Calibri"/>
                <a:ea typeface="Calibri"/>
                <a:cs typeface="Calibri"/>
                <a:sym typeface="Calibri"/>
              </a:rPr>
              <a:t>128</a:t>
            </a:r>
            <a:r>
              <a:rPr b="0" i="0" lang="en-US" sz="1150" u="none" cap="none" strike="noStrike">
                <a:solidFill>
                  <a:srgbClr val="64748B"/>
                </a:solidFill>
                <a:latin typeface="Calibri"/>
                <a:ea typeface="Calibri"/>
                <a:cs typeface="Calibri"/>
                <a:sym typeface="Calibri"/>
              </a:rPr>
              <a:t>(ReLU,Drop)→1</a:t>
            </a:r>
            <a:r>
              <a:rPr lang="en-US" sz="1150">
                <a:solidFill>
                  <a:srgbClr val="64748B"/>
                </a:solidFill>
                <a:latin typeface="Calibri"/>
                <a:ea typeface="Calibri"/>
                <a:cs typeface="Calibri"/>
                <a:sym typeface="Calibri"/>
              </a:rPr>
              <a:t>0</a:t>
            </a:r>
            <a:br>
              <a:rPr b="0" i="0" lang="en-US" sz="1150" u="none" cap="none" strike="noStrike">
                <a:solidFill>
                  <a:srgbClr val="64748B"/>
                </a:solidFill>
                <a:latin typeface="Calibri"/>
                <a:ea typeface="Calibri"/>
                <a:cs typeface="Calibri"/>
                <a:sym typeface="Calibri"/>
              </a:rPr>
            </a:br>
            <a:r>
              <a:rPr b="1" i="0" lang="en-US" sz="1150" u="none" cap="none" strike="noStrike">
                <a:solidFill>
                  <a:srgbClr val="64748B"/>
                </a:solidFill>
                <a:latin typeface="Calibri"/>
                <a:ea typeface="Calibri"/>
                <a:cs typeface="Calibri"/>
                <a:sym typeface="Calibri"/>
              </a:rPr>
              <a:t>Regularization: </a:t>
            </a:r>
            <a:r>
              <a:rPr b="0" i="0" lang="en-US" sz="1150" u="none" cap="none" strike="noStrike">
                <a:solidFill>
                  <a:srgbClr val="64748B"/>
                </a:solidFill>
                <a:latin typeface="Calibri"/>
                <a:ea typeface="Calibri"/>
                <a:cs typeface="Calibri"/>
                <a:sym typeface="Calibri"/>
              </a:rPr>
              <a:t>Dropout only (p=0.5), no L2</a:t>
            </a:r>
            <a:br>
              <a:rPr b="0" i="0" lang="en-US" sz="1150" u="none" cap="none" strike="noStrike">
                <a:solidFill>
                  <a:srgbClr val="64748B"/>
                </a:solidFill>
                <a:latin typeface="Calibri"/>
                <a:ea typeface="Calibri"/>
                <a:cs typeface="Calibri"/>
                <a:sym typeface="Calibri"/>
              </a:rPr>
            </a:br>
            <a:r>
              <a:rPr b="1" i="0" lang="en-US" sz="1150" u="none" cap="none" strike="noStrike">
                <a:solidFill>
                  <a:srgbClr val="64748B"/>
                </a:solidFill>
                <a:latin typeface="Calibri"/>
                <a:ea typeface="Calibri"/>
                <a:cs typeface="Calibri"/>
                <a:sym typeface="Calibri"/>
              </a:rPr>
              <a:t>Batch size: </a:t>
            </a:r>
            <a:r>
              <a:rPr b="0" i="0" lang="en-US" sz="1150" u="none" cap="none" strike="noStrike">
                <a:solidFill>
                  <a:srgbClr val="64748B"/>
                </a:solidFill>
                <a:latin typeface="Calibri"/>
                <a:ea typeface="Calibri"/>
                <a:cs typeface="Calibri"/>
                <a:sym typeface="Calibri"/>
              </a:rPr>
              <a:t>128</a:t>
            </a:r>
            <a:br>
              <a:rPr b="0" i="0" lang="en-US" sz="1150" u="none" cap="none" strike="noStrike">
                <a:solidFill>
                  <a:srgbClr val="64748B"/>
                </a:solidFill>
                <a:latin typeface="Calibri"/>
                <a:ea typeface="Calibri"/>
                <a:cs typeface="Calibri"/>
                <a:sym typeface="Calibri"/>
              </a:rPr>
            </a:br>
            <a:r>
              <a:rPr b="1" i="0" lang="en-US" sz="1150" u="none" cap="none" strike="noStrike">
                <a:solidFill>
                  <a:srgbClr val="64748B"/>
                </a:solidFill>
                <a:latin typeface="Calibri"/>
                <a:ea typeface="Calibri"/>
                <a:cs typeface="Calibri"/>
                <a:sym typeface="Calibri"/>
              </a:rPr>
              <a:t>Epochs: </a:t>
            </a:r>
            <a:r>
              <a:rPr b="0" i="0" lang="en-US" sz="1150" u="none" cap="none" strike="noStrike">
                <a:solidFill>
                  <a:srgbClr val="64748B"/>
                </a:solidFill>
                <a:latin typeface="Calibri"/>
                <a:ea typeface="Calibri"/>
                <a:cs typeface="Calibri"/>
                <a:sym typeface="Calibri"/>
              </a:rPr>
              <a:t>100</a:t>
            </a:r>
            <a:br>
              <a:rPr b="0" i="0" lang="en-US" sz="1150" u="none" cap="none" strike="noStrike">
                <a:solidFill>
                  <a:srgbClr val="64748B"/>
                </a:solidFill>
                <a:latin typeface="Calibri"/>
                <a:ea typeface="Calibri"/>
                <a:cs typeface="Calibri"/>
                <a:sym typeface="Calibri"/>
              </a:rPr>
            </a:br>
            <a:r>
              <a:rPr b="1" i="0" lang="en-US" sz="1150" u="none" cap="none" strike="noStrike">
                <a:solidFill>
                  <a:srgbClr val="64748B"/>
                </a:solidFill>
                <a:latin typeface="Calibri"/>
                <a:ea typeface="Calibri"/>
                <a:cs typeface="Calibri"/>
                <a:sym typeface="Calibri"/>
              </a:rPr>
              <a:t>LR schedule: </a:t>
            </a:r>
            <a:r>
              <a:rPr b="0" i="0" lang="en-US" sz="1150" u="none" cap="none" strike="noStrike">
                <a:solidFill>
                  <a:srgbClr val="64748B"/>
                </a:solidFill>
                <a:latin typeface="Calibri"/>
                <a:ea typeface="Calibri"/>
                <a:cs typeface="Calibri"/>
                <a:sym typeface="Calibri"/>
              </a:rPr>
              <a:t>αₜ = α/√t (same as Ex1)</a:t>
            </a:r>
            <a:br>
              <a:rPr b="0" i="0" lang="en-US" sz="1150" u="none" cap="none" strike="noStrike">
                <a:solidFill>
                  <a:srgbClr val="64748B"/>
                </a:solidFill>
                <a:latin typeface="Calibri"/>
                <a:ea typeface="Calibri"/>
                <a:cs typeface="Calibri"/>
                <a:sym typeface="Calibri"/>
              </a:rPr>
            </a:br>
            <a:r>
              <a:rPr b="1" i="0" lang="en-US" sz="1150" u="none" cap="none" strike="noStrike">
                <a:solidFill>
                  <a:srgbClr val="64748B"/>
                </a:solidFill>
                <a:latin typeface="Calibri"/>
                <a:ea typeface="Calibri"/>
                <a:cs typeface="Calibri"/>
                <a:sym typeface="Calibri"/>
              </a:rPr>
              <a:t>Seeds: </a:t>
            </a:r>
            <a:r>
              <a:rPr b="0" i="0" lang="en-US" sz="1150" u="none" cap="none" strike="noStrike">
                <a:solidFill>
                  <a:srgbClr val="64748B"/>
                </a:solidFill>
                <a:latin typeface="Calibri"/>
                <a:ea typeface="Calibri"/>
                <a:cs typeface="Calibri"/>
                <a:sym typeface="Calibri"/>
              </a:rPr>
              <a:t>3 (mean ± 1σ bands)</a:t>
            </a:r>
            <a:endParaRPr b="0" i="0" sz="1150" u="none" cap="none" strike="noStrike">
              <a:solidFill>
                <a:schemeClr val="dk1"/>
              </a:solidFill>
              <a:latin typeface="Calibri"/>
              <a:ea typeface="Calibri"/>
              <a:cs typeface="Calibri"/>
              <a:sym typeface="Calibri"/>
            </a:endParaRPr>
          </a:p>
        </p:txBody>
      </p:sp>
      <p:sp>
        <p:nvSpPr>
          <p:cNvPr id="60" name="Google Shape;60;p3"/>
          <p:cNvSpPr/>
          <p:nvPr/>
        </p:nvSpPr>
        <p:spPr>
          <a:xfrm>
            <a:off x="365760" y="4773168"/>
            <a:ext cx="84124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4748B"/>
              </a:buClr>
              <a:buSzPts val="950"/>
              <a:buFont typeface="Calibri"/>
              <a:buNone/>
            </a:pPr>
            <a:r>
              <a:rPr b="0" i="1" lang="en-US" sz="950" u="none" cap="none" strike="noStrike">
                <a:solidFill>
                  <a:srgbClr val="64748B"/>
                </a:solidFill>
                <a:latin typeface="Calibri"/>
                <a:ea typeface="Calibri"/>
                <a:cs typeface="Calibri"/>
                <a:sym typeface="Calibri"/>
              </a:rPr>
              <a:t>All optimizers share the same base LR (0.001). Adam implemented from scratch using only torch.autograd.</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4"/>
          <p:cNvSpPr/>
          <p:nvPr/>
        </p:nvSpPr>
        <p:spPr>
          <a:xfrm>
            <a:off x="365760" y="164592"/>
            <a:ext cx="1645920" cy="292608"/>
          </a:xfrm>
          <a:prstGeom prst="roundRect">
            <a:avLst>
              <a:gd fmla="val 18750" name="adj"/>
            </a:avLst>
          </a:prstGeom>
          <a:solidFill>
            <a:srgbClr val="E05C00"/>
          </a:solidFill>
          <a:ln cap="flat" cmpd="sng" w="12700">
            <a:solidFill>
              <a:srgbClr val="E05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365760" y="164592"/>
            <a:ext cx="16459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RESULTS</a:t>
            </a:r>
            <a:endParaRPr b="0" i="0" sz="800" u="none" cap="none" strike="noStrike">
              <a:solidFill>
                <a:schemeClr val="dk1"/>
              </a:solidFill>
              <a:latin typeface="Calibri"/>
              <a:ea typeface="Calibri"/>
              <a:cs typeface="Calibri"/>
              <a:sym typeface="Calibri"/>
            </a:endParaRPr>
          </a:p>
        </p:txBody>
      </p:sp>
      <p:sp>
        <p:nvSpPr>
          <p:cNvPr id="68" name="Google Shape;68;p4"/>
          <p:cNvSpPr/>
          <p:nvPr/>
        </p:nvSpPr>
        <p:spPr>
          <a:xfrm>
            <a:off x="365760" y="502920"/>
            <a:ext cx="8412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600"/>
              <a:buFont typeface="Calibri"/>
              <a:buNone/>
            </a:pPr>
            <a:r>
              <a:rPr b="1" i="0" lang="en-US" sz="2600" u="none" cap="none" strike="noStrike">
                <a:solidFill>
                  <a:srgbClr val="1E293B"/>
                </a:solidFill>
                <a:latin typeface="Calibri"/>
                <a:ea typeface="Calibri"/>
                <a:cs typeface="Calibri"/>
                <a:sym typeface="Calibri"/>
              </a:rPr>
              <a:t>Experiment 1: Logistic Regression on MNIST</a:t>
            </a:r>
            <a:endParaRPr b="0" i="0" sz="2600" u="none" cap="none" strike="noStrike">
              <a:solidFill>
                <a:schemeClr val="dk1"/>
              </a:solidFill>
              <a:latin typeface="Calibri"/>
              <a:ea typeface="Calibri"/>
              <a:cs typeface="Calibri"/>
              <a:sym typeface="Calibri"/>
            </a:endParaRPr>
          </a:p>
        </p:txBody>
      </p:sp>
      <p:sp>
        <p:nvSpPr>
          <p:cNvPr id="69" name="Google Shape;69;p4"/>
          <p:cNvSpPr/>
          <p:nvPr/>
        </p:nvSpPr>
        <p:spPr>
          <a:xfrm>
            <a:off x="365760" y="1115568"/>
            <a:ext cx="41148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1200"/>
              <a:buFont typeface="Calibri"/>
              <a:buNone/>
            </a:pPr>
            <a:r>
              <a:rPr b="1" i="0" lang="en-US" sz="1200" u="none" cap="none" strike="noStrike">
                <a:solidFill>
                  <a:srgbClr val="0891B2"/>
                </a:solidFill>
                <a:latin typeface="Calibri"/>
                <a:ea typeface="Calibri"/>
                <a:cs typeface="Calibri"/>
                <a:sym typeface="Calibri"/>
              </a:rPr>
              <a:t>Our Replication</a:t>
            </a:r>
            <a:endParaRPr b="0" i="0" sz="1200" u="none" cap="none" strike="noStrike">
              <a:solidFill>
                <a:schemeClr val="dk1"/>
              </a:solidFill>
              <a:latin typeface="Calibri"/>
              <a:ea typeface="Calibri"/>
              <a:cs typeface="Calibri"/>
              <a:sym typeface="Calibri"/>
            </a:endParaRPr>
          </a:p>
        </p:txBody>
      </p:sp>
      <p:pic>
        <p:nvPicPr>
          <p:cNvPr descr="preencoded.png" id="70" name="Google Shape;70;p4"/>
          <p:cNvPicPr preferRelativeResize="0"/>
          <p:nvPr/>
        </p:nvPicPr>
        <p:blipFill rotWithShape="1">
          <a:blip r:embed="rId3">
            <a:alphaModFix/>
          </a:blip>
          <a:srcRect b="0" l="0" r="0" t="0"/>
          <a:stretch/>
        </p:blipFill>
        <p:spPr>
          <a:xfrm>
            <a:off x="320040" y="1389888"/>
            <a:ext cx="4206240" cy="2697480"/>
          </a:xfrm>
          <a:prstGeom prst="rect">
            <a:avLst/>
          </a:prstGeom>
          <a:noFill/>
          <a:ln>
            <a:noFill/>
          </a:ln>
        </p:spPr>
      </p:pic>
      <p:sp>
        <p:nvSpPr>
          <p:cNvPr id="71" name="Google Shape;71;p4"/>
          <p:cNvSpPr/>
          <p:nvPr/>
        </p:nvSpPr>
        <p:spPr>
          <a:xfrm>
            <a:off x="4663440" y="1115568"/>
            <a:ext cx="41148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5C00"/>
              </a:buClr>
              <a:buSzPts val="1200"/>
              <a:buFont typeface="Calibri"/>
              <a:buNone/>
            </a:pPr>
            <a:r>
              <a:rPr b="1" i="0" lang="en-US" sz="1200" u="none" cap="none" strike="noStrike">
                <a:solidFill>
                  <a:srgbClr val="E05C00"/>
                </a:solidFill>
                <a:latin typeface="Calibri"/>
                <a:ea typeface="Calibri"/>
                <a:cs typeface="Calibri"/>
                <a:sym typeface="Calibri"/>
              </a:rPr>
              <a:t>Original Paper (Kingma &amp; Ba 2015)</a:t>
            </a:r>
            <a:endParaRPr b="0" i="0" sz="1200" u="none" cap="none" strike="noStrike">
              <a:solidFill>
                <a:schemeClr val="dk1"/>
              </a:solidFill>
              <a:latin typeface="Calibri"/>
              <a:ea typeface="Calibri"/>
              <a:cs typeface="Calibri"/>
              <a:sym typeface="Calibri"/>
            </a:endParaRPr>
          </a:p>
        </p:txBody>
      </p:sp>
      <p:pic>
        <p:nvPicPr>
          <p:cNvPr descr="preencoded.png" id="72" name="Google Shape;72;p4"/>
          <p:cNvPicPr preferRelativeResize="0"/>
          <p:nvPr/>
        </p:nvPicPr>
        <p:blipFill rotWithShape="1">
          <a:blip r:embed="rId4">
            <a:alphaModFix/>
          </a:blip>
          <a:srcRect b="0" l="0" r="0" t="0"/>
          <a:stretch/>
        </p:blipFill>
        <p:spPr>
          <a:xfrm>
            <a:off x="4754880" y="1389888"/>
            <a:ext cx="4023360" cy="2697480"/>
          </a:xfrm>
          <a:prstGeom prst="rect">
            <a:avLst/>
          </a:prstGeom>
          <a:noFill/>
          <a:ln>
            <a:noFill/>
          </a:ln>
        </p:spPr>
      </p:pic>
      <p:cxnSp>
        <p:nvCxnSpPr>
          <p:cNvPr id="73" name="Google Shape;73;p4"/>
          <p:cNvCxnSpPr/>
          <p:nvPr/>
        </p:nvCxnSpPr>
        <p:spPr>
          <a:xfrm>
            <a:off x="4572000" y="1097280"/>
            <a:ext cx="0" cy="3200400"/>
          </a:xfrm>
          <a:prstGeom prst="straightConnector1">
            <a:avLst/>
          </a:prstGeom>
          <a:noFill/>
          <a:ln cap="flat" cmpd="sng" w="12700">
            <a:solidFill>
              <a:srgbClr val="CBD5E1"/>
            </a:solidFill>
            <a:prstDash val="dash"/>
            <a:round/>
            <a:headEnd len="sm" w="sm" type="none"/>
            <a:tailEnd len="sm" w="sm" type="none"/>
          </a:ln>
        </p:spPr>
      </p:cxnSp>
      <p:sp>
        <p:nvSpPr>
          <p:cNvPr id="74" name="Google Shape;74;p4"/>
          <p:cNvSpPr/>
          <p:nvPr/>
        </p:nvSpPr>
        <p:spPr>
          <a:xfrm>
            <a:off x="365760" y="4279392"/>
            <a:ext cx="8412480" cy="658368"/>
          </a:xfrm>
          <a:prstGeom prst="rect">
            <a:avLst/>
          </a:prstGeom>
          <a:solidFill>
            <a:srgbClr val="F0F9FF"/>
          </a:solidFill>
          <a:ln cap="flat" cmpd="sng" w="9525">
            <a:solidFill>
              <a:srgbClr val="CBD5E1"/>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p:nvPr/>
        </p:nvSpPr>
        <p:spPr>
          <a:xfrm>
            <a:off x="548640" y="4315968"/>
            <a:ext cx="80467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100"/>
              <a:buFont typeface="Calibri"/>
              <a:buNone/>
            </a:pPr>
            <a:r>
              <a:rPr b="1" i="0" lang="en-US" sz="1100" u="none" cap="none" strike="noStrike">
                <a:solidFill>
                  <a:srgbClr val="0891B2"/>
                </a:solidFill>
                <a:latin typeface="Calibri"/>
                <a:ea typeface="Calibri"/>
                <a:cs typeface="Calibri"/>
                <a:sym typeface="Calibri"/>
              </a:rPr>
              <a:t>Key finding: </a:t>
            </a:r>
            <a:r>
              <a:rPr b="0" i="0" lang="en-US" sz="1100" u="none" cap="none" strike="noStrike">
                <a:solidFill>
                  <a:srgbClr val="1E293B"/>
                </a:solidFill>
                <a:latin typeface="Calibri"/>
                <a:ea typeface="Calibri"/>
                <a:cs typeface="Calibri"/>
                <a:sym typeface="Calibri"/>
              </a:rPr>
              <a:t>Adam and SGD+Nesterov converge faster than AdaGrad — qualitatively matches the paper. AdaGrad plateau and final cost levels differ (see Discrepancy Analysis).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5"/>
          <p:cNvSpPr/>
          <p:nvPr/>
        </p:nvSpPr>
        <p:spPr>
          <a:xfrm>
            <a:off x="365760" y="164592"/>
            <a:ext cx="1645920" cy="292608"/>
          </a:xfrm>
          <a:prstGeom prst="roundRect">
            <a:avLst>
              <a:gd fmla="val 18750" name="adj"/>
            </a:avLst>
          </a:prstGeom>
          <a:solidFill>
            <a:srgbClr val="E05C00"/>
          </a:solidFill>
          <a:ln cap="flat" cmpd="sng" w="12700">
            <a:solidFill>
              <a:srgbClr val="E05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365760" y="164592"/>
            <a:ext cx="16459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RESULTS</a:t>
            </a:r>
            <a:endParaRPr b="0" i="0" sz="800" u="none" cap="none" strike="noStrike">
              <a:solidFill>
                <a:schemeClr val="dk1"/>
              </a:solidFill>
              <a:latin typeface="Calibri"/>
              <a:ea typeface="Calibri"/>
              <a:cs typeface="Calibri"/>
              <a:sym typeface="Calibri"/>
            </a:endParaRPr>
          </a:p>
        </p:txBody>
      </p:sp>
      <p:sp>
        <p:nvSpPr>
          <p:cNvPr id="83" name="Google Shape;83;p5"/>
          <p:cNvSpPr/>
          <p:nvPr/>
        </p:nvSpPr>
        <p:spPr>
          <a:xfrm>
            <a:off x="365760" y="502920"/>
            <a:ext cx="8412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600"/>
              <a:buFont typeface="Calibri"/>
              <a:buNone/>
            </a:pPr>
            <a:r>
              <a:rPr b="1" i="0" lang="en-US" sz="2600" u="none" cap="none" strike="noStrike">
                <a:solidFill>
                  <a:srgbClr val="1E293B"/>
                </a:solidFill>
                <a:latin typeface="Calibri"/>
                <a:ea typeface="Calibri"/>
                <a:cs typeface="Calibri"/>
                <a:sym typeface="Calibri"/>
              </a:rPr>
              <a:t>Experiment 2: MLP + Dropout on MNIST</a:t>
            </a:r>
            <a:endParaRPr b="0" i="0" sz="2600" u="none" cap="none" strike="noStrike">
              <a:solidFill>
                <a:schemeClr val="dk1"/>
              </a:solidFill>
              <a:latin typeface="Calibri"/>
              <a:ea typeface="Calibri"/>
              <a:cs typeface="Calibri"/>
              <a:sym typeface="Calibri"/>
            </a:endParaRPr>
          </a:p>
        </p:txBody>
      </p:sp>
      <p:sp>
        <p:nvSpPr>
          <p:cNvPr id="84" name="Google Shape;84;p5"/>
          <p:cNvSpPr/>
          <p:nvPr/>
        </p:nvSpPr>
        <p:spPr>
          <a:xfrm>
            <a:off x="365760" y="1115568"/>
            <a:ext cx="41148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1200"/>
              <a:buFont typeface="Calibri"/>
              <a:buNone/>
            </a:pPr>
            <a:r>
              <a:rPr b="1" i="0" lang="en-US" sz="1200" u="none" cap="none" strike="noStrike">
                <a:solidFill>
                  <a:srgbClr val="0891B2"/>
                </a:solidFill>
                <a:latin typeface="Calibri"/>
                <a:ea typeface="Calibri"/>
                <a:cs typeface="Calibri"/>
                <a:sym typeface="Calibri"/>
              </a:rPr>
              <a:t>Our Replication</a:t>
            </a:r>
            <a:endParaRPr b="0" i="0" sz="1200" u="none" cap="none" strike="noStrike">
              <a:solidFill>
                <a:schemeClr val="dk1"/>
              </a:solidFill>
              <a:latin typeface="Calibri"/>
              <a:ea typeface="Calibri"/>
              <a:cs typeface="Calibri"/>
              <a:sym typeface="Calibri"/>
            </a:endParaRPr>
          </a:p>
        </p:txBody>
      </p:sp>
      <p:pic>
        <p:nvPicPr>
          <p:cNvPr descr="preencoded.png" id="85" name="Google Shape;85;p5"/>
          <p:cNvPicPr preferRelativeResize="0"/>
          <p:nvPr/>
        </p:nvPicPr>
        <p:blipFill rotWithShape="1">
          <a:blip r:embed="rId3">
            <a:alphaModFix/>
          </a:blip>
          <a:srcRect b="0" l="0" r="0" t="0"/>
          <a:stretch/>
        </p:blipFill>
        <p:spPr>
          <a:xfrm>
            <a:off x="320040" y="1389888"/>
            <a:ext cx="4206240" cy="2697480"/>
          </a:xfrm>
          <a:prstGeom prst="rect">
            <a:avLst/>
          </a:prstGeom>
          <a:noFill/>
          <a:ln>
            <a:noFill/>
          </a:ln>
        </p:spPr>
      </p:pic>
      <p:sp>
        <p:nvSpPr>
          <p:cNvPr id="86" name="Google Shape;86;p5"/>
          <p:cNvSpPr/>
          <p:nvPr/>
        </p:nvSpPr>
        <p:spPr>
          <a:xfrm>
            <a:off x="4663440" y="1115568"/>
            <a:ext cx="41148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05C00"/>
              </a:buClr>
              <a:buSzPts val="1200"/>
              <a:buFont typeface="Calibri"/>
              <a:buNone/>
            </a:pPr>
            <a:r>
              <a:rPr b="1" i="0" lang="en-US" sz="1200" u="none" cap="none" strike="noStrike">
                <a:solidFill>
                  <a:srgbClr val="E05C00"/>
                </a:solidFill>
                <a:latin typeface="Calibri"/>
                <a:ea typeface="Calibri"/>
                <a:cs typeface="Calibri"/>
                <a:sym typeface="Calibri"/>
              </a:rPr>
              <a:t>Original Paper (Kingma &amp; Ba 2015)</a:t>
            </a:r>
            <a:endParaRPr b="0" i="0" sz="1200" u="none" cap="none" strike="noStrike">
              <a:solidFill>
                <a:schemeClr val="dk1"/>
              </a:solidFill>
              <a:latin typeface="Calibri"/>
              <a:ea typeface="Calibri"/>
              <a:cs typeface="Calibri"/>
              <a:sym typeface="Calibri"/>
            </a:endParaRPr>
          </a:p>
        </p:txBody>
      </p:sp>
      <p:pic>
        <p:nvPicPr>
          <p:cNvPr descr="preencoded.png" id="87" name="Google Shape;87;p5"/>
          <p:cNvPicPr preferRelativeResize="0"/>
          <p:nvPr/>
        </p:nvPicPr>
        <p:blipFill rotWithShape="1">
          <a:blip r:embed="rId4">
            <a:alphaModFix/>
          </a:blip>
          <a:srcRect b="0" l="0" r="0" t="0"/>
          <a:stretch/>
        </p:blipFill>
        <p:spPr>
          <a:xfrm>
            <a:off x="4754880" y="1389888"/>
            <a:ext cx="4023360" cy="2697480"/>
          </a:xfrm>
          <a:prstGeom prst="rect">
            <a:avLst/>
          </a:prstGeom>
          <a:noFill/>
          <a:ln>
            <a:noFill/>
          </a:ln>
        </p:spPr>
      </p:pic>
      <p:cxnSp>
        <p:nvCxnSpPr>
          <p:cNvPr id="88" name="Google Shape;88;p5"/>
          <p:cNvCxnSpPr/>
          <p:nvPr/>
        </p:nvCxnSpPr>
        <p:spPr>
          <a:xfrm>
            <a:off x="4572000" y="1097280"/>
            <a:ext cx="0" cy="3200400"/>
          </a:xfrm>
          <a:prstGeom prst="straightConnector1">
            <a:avLst/>
          </a:prstGeom>
          <a:noFill/>
          <a:ln cap="flat" cmpd="sng" w="12700">
            <a:solidFill>
              <a:srgbClr val="CBD5E1"/>
            </a:solidFill>
            <a:prstDash val="dash"/>
            <a:round/>
            <a:headEnd len="sm" w="sm" type="none"/>
            <a:tailEnd len="sm" w="sm" type="none"/>
          </a:ln>
        </p:spPr>
      </p:cxnSp>
      <p:sp>
        <p:nvSpPr>
          <p:cNvPr id="89" name="Google Shape;89;p5"/>
          <p:cNvSpPr/>
          <p:nvPr/>
        </p:nvSpPr>
        <p:spPr>
          <a:xfrm>
            <a:off x="365760" y="4279392"/>
            <a:ext cx="8412480" cy="658368"/>
          </a:xfrm>
          <a:prstGeom prst="rect">
            <a:avLst/>
          </a:prstGeom>
          <a:solidFill>
            <a:srgbClr val="FFF7ED"/>
          </a:solidFill>
          <a:ln cap="flat" cmpd="sng" w="9525">
            <a:solidFill>
              <a:srgbClr val="CBD5E1"/>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548640" y="4315968"/>
            <a:ext cx="80467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5C00"/>
              </a:buClr>
              <a:buSzPts val="1100"/>
              <a:buFont typeface="Calibri"/>
              <a:buNone/>
            </a:pPr>
            <a:r>
              <a:rPr b="1" i="0" lang="en-US" sz="1100" u="none" cap="none" strike="noStrike">
                <a:solidFill>
                  <a:srgbClr val="E05C00"/>
                </a:solidFill>
                <a:latin typeface="Calibri"/>
                <a:ea typeface="Calibri"/>
                <a:cs typeface="Calibri"/>
                <a:sym typeface="Calibri"/>
              </a:rPr>
              <a:t>Key finding: </a:t>
            </a:r>
            <a:r>
              <a:rPr b="0" i="0" lang="en-US" sz="1100" u="none" cap="none" strike="noStrike">
                <a:solidFill>
                  <a:srgbClr val="1E293B"/>
                </a:solidFill>
                <a:latin typeface="Calibri"/>
                <a:ea typeface="Calibri"/>
                <a:cs typeface="Calibri"/>
                <a:sym typeface="Calibri"/>
              </a:rPr>
              <a:t>Adam achieves the lowest training cost by a large margin. Paper uses 200 epochs; our linear-scale 100-epoch plot still shows the same ordering of optimizers.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 name="Shape 95"/>
        <p:cNvGrpSpPr/>
        <p:nvPr/>
      </p:nvGrpSpPr>
      <p:grpSpPr>
        <a:xfrm>
          <a:off x="0" y="0"/>
          <a:ext cx="0" cy="0"/>
          <a:chOff x="0" y="0"/>
          <a:chExt cx="0" cy="0"/>
        </a:xfrm>
      </p:grpSpPr>
      <p:sp>
        <p:nvSpPr>
          <p:cNvPr id="96" name="Google Shape;96;p6"/>
          <p:cNvSpPr/>
          <p:nvPr/>
        </p:nvSpPr>
        <p:spPr>
          <a:xfrm>
            <a:off x="365760" y="164592"/>
            <a:ext cx="1645920" cy="292608"/>
          </a:xfrm>
          <a:prstGeom prst="roundRect">
            <a:avLst>
              <a:gd fmla="val 18750" name="adj"/>
            </a:avLst>
          </a:prstGeom>
          <a:solidFill>
            <a:srgbClr val="E05C00"/>
          </a:solidFill>
          <a:ln cap="flat" cmpd="sng" w="12700">
            <a:solidFill>
              <a:srgbClr val="E05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6"/>
          <p:cNvSpPr/>
          <p:nvPr/>
        </p:nvSpPr>
        <p:spPr>
          <a:xfrm>
            <a:off x="365760" y="164592"/>
            <a:ext cx="16459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DISCREPANCY ANALYSIS</a:t>
            </a:r>
            <a:endParaRPr b="0" i="0" sz="800" u="none" cap="none" strike="noStrike">
              <a:solidFill>
                <a:schemeClr val="dk1"/>
              </a:solidFill>
              <a:latin typeface="Calibri"/>
              <a:ea typeface="Calibri"/>
              <a:cs typeface="Calibri"/>
              <a:sym typeface="Calibri"/>
            </a:endParaRPr>
          </a:p>
        </p:txBody>
      </p:sp>
      <p:sp>
        <p:nvSpPr>
          <p:cNvPr id="98" name="Google Shape;98;p6"/>
          <p:cNvSpPr/>
          <p:nvPr/>
        </p:nvSpPr>
        <p:spPr>
          <a:xfrm>
            <a:off x="365760" y="502920"/>
            <a:ext cx="8412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600"/>
              <a:buFont typeface="Calibri"/>
              <a:buNone/>
            </a:pPr>
            <a:r>
              <a:rPr b="1" i="0" lang="en-US" sz="2600" u="none" cap="none" strike="noStrike">
                <a:solidFill>
                  <a:srgbClr val="1E293B"/>
                </a:solidFill>
                <a:latin typeface="Calibri"/>
                <a:ea typeface="Calibri"/>
                <a:cs typeface="Calibri"/>
                <a:sym typeface="Calibri"/>
              </a:rPr>
              <a:t>Where </a:t>
            </a:r>
            <a:r>
              <a:rPr b="1" lang="en-US" sz="2600">
                <a:solidFill>
                  <a:srgbClr val="1E293B"/>
                </a:solidFill>
                <a:latin typeface="Calibri"/>
                <a:ea typeface="Calibri"/>
                <a:cs typeface="Calibri"/>
                <a:sym typeface="Calibri"/>
              </a:rPr>
              <a:t>The</a:t>
            </a:r>
            <a:r>
              <a:rPr b="1" i="0" lang="en-US" sz="2600" u="none" cap="none" strike="noStrike">
                <a:solidFill>
                  <a:srgbClr val="1E293B"/>
                </a:solidFill>
                <a:latin typeface="Calibri"/>
                <a:ea typeface="Calibri"/>
                <a:cs typeface="Calibri"/>
                <a:sym typeface="Calibri"/>
              </a:rPr>
              <a:t> Results Differ From the Paper</a:t>
            </a:r>
            <a:endParaRPr b="0" i="0" sz="2600" u="none" cap="none" strike="noStrike">
              <a:solidFill>
                <a:schemeClr val="dk1"/>
              </a:solidFill>
              <a:latin typeface="Calibri"/>
              <a:ea typeface="Calibri"/>
              <a:cs typeface="Calibri"/>
              <a:sym typeface="Calibri"/>
            </a:endParaRPr>
          </a:p>
        </p:txBody>
      </p:sp>
      <p:sp>
        <p:nvSpPr>
          <p:cNvPr id="99" name="Google Shape;99;p6"/>
          <p:cNvSpPr/>
          <p:nvPr/>
        </p:nvSpPr>
        <p:spPr>
          <a:xfrm>
            <a:off x="365760" y="1143000"/>
            <a:ext cx="4023360" cy="1664208"/>
          </a:xfrm>
          <a:prstGeom prst="rect">
            <a:avLst/>
          </a:prstGeom>
          <a:solidFill>
            <a:srgbClr val="F4F6F8"/>
          </a:solidFill>
          <a:ln cap="flat" cmpd="sng" w="9525">
            <a:solidFill>
              <a:srgbClr val="CBD5E1"/>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6"/>
          <p:cNvSpPr/>
          <p:nvPr/>
        </p:nvSpPr>
        <p:spPr>
          <a:xfrm>
            <a:off x="365760" y="1143000"/>
            <a:ext cx="64008" cy="1664208"/>
          </a:xfrm>
          <a:prstGeom prst="rect">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530352" y="1252728"/>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lang="en-US" sz="1200">
                <a:solidFill>
                  <a:srgbClr val="1E293B"/>
                </a:solidFill>
                <a:latin typeface="Calibri"/>
                <a:ea typeface="Calibri"/>
                <a:cs typeface="Calibri"/>
                <a:sym typeface="Calibri"/>
              </a:rPr>
              <a:t>Number of Nodes</a:t>
            </a:r>
            <a:endParaRPr b="0" i="0" sz="1200" u="none" cap="none" strike="noStrike">
              <a:solidFill>
                <a:schemeClr val="dk1"/>
              </a:solidFill>
              <a:latin typeface="Calibri"/>
              <a:ea typeface="Calibri"/>
              <a:cs typeface="Calibri"/>
              <a:sym typeface="Calibri"/>
            </a:endParaRPr>
          </a:p>
        </p:txBody>
      </p:sp>
      <p:sp>
        <p:nvSpPr>
          <p:cNvPr id="102" name="Google Shape;102;p6"/>
          <p:cNvSpPr/>
          <p:nvPr/>
        </p:nvSpPr>
        <p:spPr>
          <a:xfrm>
            <a:off x="530352" y="1554480"/>
            <a:ext cx="3749040" cy="11704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lang="en-US" sz="1050">
                <a:solidFill>
                  <a:srgbClr val="64748B"/>
                </a:solidFill>
                <a:latin typeface="Calibri"/>
                <a:ea typeface="Calibri"/>
                <a:cs typeface="Calibri"/>
                <a:sym typeface="Calibri"/>
              </a:rPr>
              <a:t>The paper has 2 layers of 1000 nodes each - I only ha ve 128. This decision was made because having 1000 nodes in 2 layers was way too intensive for my hardware.</a:t>
            </a:r>
            <a:endParaRPr b="0" i="0" sz="1050" u="none" cap="none" strike="noStrike">
              <a:solidFill>
                <a:schemeClr val="dk1"/>
              </a:solidFill>
              <a:latin typeface="Calibri"/>
              <a:ea typeface="Calibri"/>
              <a:cs typeface="Calibri"/>
              <a:sym typeface="Calibri"/>
            </a:endParaRPr>
          </a:p>
        </p:txBody>
      </p:sp>
      <p:sp>
        <p:nvSpPr>
          <p:cNvPr id="103" name="Google Shape;103;p6"/>
          <p:cNvSpPr/>
          <p:nvPr/>
        </p:nvSpPr>
        <p:spPr>
          <a:xfrm>
            <a:off x="4663440" y="1143000"/>
            <a:ext cx="4023360" cy="1664208"/>
          </a:xfrm>
          <a:prstGeom prst="rect">
            <a:avLst/>
          </a:prstGeom>
          <a:solidFill>
            <a:srgbClr val="F4F6F8"/>
          </a:solidFill>
          <a:ln cap="flat" cmpd="sng" w="9525">
            <a:solidFill>
              <a:srgbClr val="CBD5E1"/>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4663440" y="1143000"/>
            <a:ext cx="64008" cy="1664208"/>
          </a:xfrm>
          <a:prstGeom prst="rect">
            <a:avLst/>
          </a:prstGeom>
          <a:solidFill>
            <a:srgbClr val="E05C00"/>
          </a:solidFill>
          <a:ln cap="flat" cmpd="sng" w="12700">
            <a:solidFill>
              <a:srgbClr val="E05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4828032" y="1252728"/>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Log vs Linear Scale — Ex2</a:t>
            </a:r>
            <a:endParaRPr b="0" i="0" sz="1200" u="none" cap="none" strike="noStrike">
              <a:solidFill>
                <a:schemeClr val="dk1"/>
              </a:solidFill>
              <a:latin typeface="Calibri"/>
              <a:ea typeface="Calibri"/>
              <a:cs typeface="Calibri"/>
              <a:sym typeface="Calibri"/>
            </a:endParaRPr>
          </a:p>
        </p:txBody>
      </p:sp>
      <p:sp>
        <p:nvSpPr>
          <p:cNvPr id="106" name="Google Shape;106;p6"/>
          <p:cNvSpPr/>
          <p:nvPr/>
        </p:nvSpPr>
        <p:spPr>
          <a:xfrm>
            <a:off x="4828032" y="1554480"/>
            <a:ext cx="3749040" cy="11704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Paper plots on log scale (10⁻¹ to 10⁻²), hiding noise and compressing variance. Our linear plot shows the same relative ordering but looks qualitatively different due to scale choice.</a:t>
            </a:r>
            <a:endParaRPr b="0" i="0" sz="1050" u="none" cap="none" strike="noStrike">
              <a:solidFill>
                <a:schemeClr val="dk1"/>
              </a:solidFill>
              <a:latin typeface="Calibri"/>
              <a:ea typeface="Calibri"/>
              <a:cs typeface="Calibri"/>
              <a:sym typeface="Calibri"/>
            </a:endParaRPr>
          </a:p>
        </p:txBody>
      </p:sp>
      <p:sp>
        <p:nvSpPr>
          <p:cNvPr id="107" name="Google Shape;107;p6"/>
          <p:cNvSpPr/>
          <p:nvPr/>
        </p:nvSpPr>
        <p:spPr>
          <a:xfrm>
            <a:off x="365760" y="2971800"/>
            <a:ext cx="4023360" cy="1664208"/>
          </a:xfrm>
          <a:prstGeom prst="rect">
            <a:avLst/>
          </a:prstGeom>
          <a:solidFill>
            <a:srgbClr val="F4F6F8"/>
          </a:solidFill>
          <a:ln cap="flat" cmpd="sng" w="9525">
            <a:solidFill>
              <a:srgbClr val="CBD5E1"/>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6"/>
          <p:cNvSpPr/>
          <p:nvPr/>
        </p:nvSpPr>
        <p:spPr>
          <a:xfrm>
            <a:off x="365760" y="2971800"/>
            <a:ext cx="64008" cy="1664208"/>
          </a:xfrm>
          <a:prstGeom prst="rect">
            <a:avLst/>
          </a:prstGeom>
          <a:solidFill>
            <a:srgbClr val="1B2E45"/>
          </a:solidFill>
          <a:ln cap="flat" cmpd="sng" w="12700">
            <a:solidFill>
              <a:srgbClr val="1B2E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6"/>
          <p:cNvSpPr/>
          <p:nvPr/>
        </p:nvSpPr>
        <p:spPr>
          <a:xfrm>
            <a:off x="530352" y="3081528"/>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Optimizer Lineup</a:t>
            </a:r>
            <a:endParaRPr b="0" i="0" sz="1200" u="none" cap="none" strike="noStrike">
              <a:solidFill>
                <a:schemeClr val="dk1"/>
              </a:solidFill>
              <a:latin typeface="Calibri"/>
              <a:ea typeface="Calibri"/>
              <a:cs typeface="Calibri"/>
              <a:sym typeface="Calibri"/>
            </a:endParaRPr>
          </a:p>
        </p:txBody>
      </p:sp>
      <p:sp>
        <p:nvSpPr>
          <p:cNvPr id="110" name="Google Shape;110;p6"/>
          <p:cNvSpPr/>
          <p:nvPr/>
        </p:nvSpPr>
        <p:spPr>
          <a:xfrm>
            <a:off x="530352" y="3383280"/>
            <a:ext cx="3749040" cy="11704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Paper Figure 2 includes AdaDelta instead of plain SGD. We include SGD and RMSprop but not AdaDelta. This changes the visual density of the chart and removes one direct comparison.</a:t>
            </a:r>
            <a:endParaRPr b="0" i="0" sz="1050" u="none" cap="none" strike="noStrike">
              <a:solidFill>
                <a:schemeClr val="dk1"/>
              </a:solidFill>
              <a:latin typeface="Calibri"/>
              <a:ea typeface="Calibri"/>
              <a:cs typeface="Calibri"/>
              <a:sym typeface="Calibri"/>
            </a:endParaRPr>
          </a:p>
        </p:txBody>
      </p:sp>
      <p:sp>
        <p:nvSpPr>
          <p:cNvPr id="111" name="Google Shape;111;p6"/>
          <p:cNvSpPr/>
          <p:nvPr/>
        </p:nvSpPr>
        <p:spPr>
          <a:xfrm>
            <a:off x="4663440" y="2971800"/>
            <a:ext cx="4023360" cy="1664208"/>
          </a:xfrm>
          <a:prstGeom prst="rect">
            <a:avLst/>
          </a:prstGeom>
          <a:solidFill>
            <a:srgbClr val="F4F6F8"/>
          </a:solidFill>
          <a:ln cap="flat" cmpd="sng" w="9525">
            <a:solidFill>
              <a:srgbClr val="CBD5E1"/>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
          <p:cNvSpPr/>
          <p:nvPr/>
        </p:nvSpPr>
        <p:spPr>
          <a:xfrm>
            <a:off x="4663440" y="2971800"/>
            <a:ext cx="64008" cy="1664208"/>
          </a:xfrm>
          <a:prstGeom prst="rect">
            <a:avLst/>
          </a:prstGeom>
          <a:solidFill>
            <a:srgbClr val="64748B"/>
          </a:solidFill>
          <a:ln cap="flat" cmpd="sng" w="12700">
            <a:solidFill>
              <a:srgbClr val="64748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
          <p:cNvSpPr/>
          <p:nvPr/>
        </p:nvSpPr>
        <p:spPr>
          <a:xfrm>
            <a:off x="4828032" y="3081528"/>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Epoch Count — Ex2</a:t>
            </a:r>
            <a:endParaRPr b="0" i="0" sz="1200" u="none" cap="none" strike="noStrike">
              <a:solidFill>
                <a:schemeClr val="dk1"/>
              </a:solidFill>
              <a:latin typeface="Calibri"/>
              <a:ea typeface="Calibri"/>
              <a:cs typeface="Calibri"/>
              <a:sym typeface="Calibri"/>
            </a:endParaRPr>
          </a:p>
        </p:txBody>
      </p:sp>
      <p:sp>
        <p:nvSpPr>
          <p:cNvPr id="114" name="Google Shape;114;p6"/>
          <p:cNvSpPr/>
          <p:nvPr/>
        </p:nvSpPr>
        <p:spPr>
          <a:xfrm>
            <a:off x="4828032" y="3383280"/>
            <a:ext cx="3749040" cy="11704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Paper runs 200 epochs; we ran 100. Adam's advantage over other optimizers likely widens further with the additional training — our replication understates the gap.</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 name="Shape 119"/>
        <p:cNvGrpSpPr/>
        <p:nvPr/>
      </p:nvGrpSpPr>
      <p:grpSpPr>
        <a:xfrm>
          <a:off x="0" y="0"/>
          <a:ext cx="0" cy="0"/>
          <a:chOff x="0" y="0"/>
          <a:chExt cx="0" cy="0"/>
        </a:xfrm>
      </p:grpSpPr>
      <p:sp>
        <p:nvSpPr>
          <p:cNvPr id="120" name="Google Shape;120;p7"/>
          <p:cNvSpPr/>
          <p:nvPr/>
        </p:nvSpPr>
        <p:spPr>
          <a:xfrm>
            <a:off x="365760" y="164592"/>
            <a:ext cx="1645920" cy="292608"/>
          </a:xfrm>
          <a:prstGeom prst="roundRect">
            <a:avLst>
              <a:gd fmla="val 18750" name="adj"/>
            </a:avLst>
          </a:prstGeom>
          <a:solidFill>
            <a:srgbClr val="E05C00"/>
          </a:solidFill>
          <a:ln cap="flat" cmpd="sng" w="12700">
            <a:solidFill>
              <a:srgbClr val="E05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p:nvPr/>
        </p:nvSpPr>
        <p:spPr>
          <a:xfrm>
            <a:off x="365760" y="164592"/>
            <a:ext cx="16458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ABLATION</a:t>
            </a:r>
            <a:endParaRPr b="0" i="0" sz="800" u="none" cap="none" strike="noStrike">
              <a:solidFill>
                <a:schemeClr val="dk1"/>
              </a:solidFill>
              <a:latin typeface="Calibri"/>
              <a:ea typeface="Calibri"/>
              <a:cs typeface="Calibri"/>
              <a:sym typeface="Calibri"/>
            </a:endParaRPr>
          </a:p>
        </p:txBody>
      </p:sp>
      <p:sp>
        <p:nvSpPr>
          <p:cNvPr id="122" name="Google Shape;122;p7"/>
          <p:cNvSpPr/>
          <p:nvPr/>
        </p:nvSpPr>
        <p:spPr>
          <a:xfrm>
            <a:off x="365760" y="502920"/>
            <a:ext cx="8412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600"/>
              <a:buFont typeface="Calibri"/>
              <a:buNone/>
            </a:pPr>
            <a:r>
              <a:rPr b="1" i="0" lang="en-US" sz="2600" u="none" cap="none" strike="noStrike">
                <a:solidFill>
                  <a:srgbClr val="1E293B"/>
                </a:solidFill>
                <a:latin typeface="Calibri"/>
                <a:ea typeface="Calibri"/>
                <a:cs typeface="Calibri"/>
                <a:sym typeface="Calibri"/>
              </a:rPr>
              <a:t>Ablation: </a:t>
            </a:r>
            <a:r>
              <a:rPr b="1" lang="en-US" sz="2600">
                <a:solidFill>
                  <a:srgbClr val="1E293B"/>
                </a:solidFill>
                <a:latin typeface="Calibri"/>
                <a:ea typeface="Calibri"/>
                <a:cs typeface="Calibri"/>
                <a:sym typeface="Calibri"/>
              </a:rPr>
              <a:t>Difference in LR between ADAM and others</a:t>
            </a:r>
            <a:endParaRPr b="0" i="0" sz="2600" u="none" cap="none" strike="noStrike">
              <a:solidFill>
                <a:schemeClr val="dk1"/>
              </a:solidFill>
              <a:latin typeface="Calibri"/>
              <a:ea typeface="Calibri"/>
              <a:cs typeface="Calibri"/>
              <a:sym typeface="Calibri"/>
            </a:endParaRPr>
          </a:p>
        </p:txBody>
      </p:sp>
      <p:sp>
        <p:nvSpPr>
          <p:cNvPr id="123" name="Google Shape;123;p7"/>
          <p:cNvSpPr/>
          <p:nvPr/>
        </p:nvSpPr>
        <p:spPr>
          <a:xfrm>
            <a:off x="365760" y="1188720"/>
            <a:ext cx="3840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What We Tested</a:t>
            </a:r>
            <a:endParaRPr b="0" i="0" sz="1400" u="none" cap="none" strike="noStrike">
              <a:solidFill>
                <a:schemeClr val="dk1"/>
              </a:solidFill>
              <a:latin typeface="Calibri"/>
              <a:ea typeface="Calibri"/>
              <a:cs typeface="Calibri"/>
              <a:sym typeface="Calibri"/>
            </a:endParaRPr>
          </a:p>
        </p:txBody>
      </p:sp>
      <p:sp>
        <p:nvSpPr>
          <p:cNvPr id="124" name="Google Shape;124;p7"/>
          <p:cNvSpPr/>
          <p:nvPr/>
        </p:nvSpPr>
        <p:spPr>
          <a:xfrm>
            <a:off x="365760" y="1572768"/>
            <a:ext cx="3931920" cy="3200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150"/>
              <a:buFont typeface="Calibri"/>
              <a:buNone/>
            </a:pPr>
            <a:r>
              <a:rPr b="1" i="0" lang="en-US" sz="1150" u="none" cap="none" strike="noStrike">
                <a:solidFill>
                  <a:srgbClr val="64748B"/>
                </a:solidFill>
                <a:latin typeface="Calibri"/>
                <a:ea typeface="Calibri"/>
                <a:cs typeface="Calibri"/>
                <a:sym typeface="Calibri"/>
              </a:rPr>
              <a:t>Origina</a:t>
            </a:r>
            <a:r>
              <a:rPr b="1" lang="en-US" sz="1150">
                <a:solidFill>
                  <a:srgbClr val="64748B"/>
                </a:solidFill>
                <a:latin typeface="Calibri"/>
                <a:ea typeface="Calibri"/>
                <a:cs typeface="Calibri"/>
                <a:sym typeface="Calibri"/>
              </a:rPr>
              <a:t>l</a:t>
            </a:r>
            <a:r>
              <a:rPr b="1" i="0" lang="en-US" sz="1150" u="none" cap="none" strike="noStrike">
                <a:solidFill>
                  <a:srgbClr val="64748B"/>
                </a:solidFill>
                <a:latin typeface="Calibri"/>
                <a:ea typeface="Calibri"/>
                <a:cs typeface="Calibri"/>
                <a:sym typeface="Calibri"/>
              </a:rPr>
              <a:t>: </a:t>
            </a:r>
            <a:r>
              <a:rPr lang="en-US" sz="1150">
                <a:solidFill>
                  <a:srgbClr val="64748B"/>
                </a:solidFill>
                <a:latin typeface="Calibri"/>
                <a:ea typeface="Calibri"/>
                <a:cs typeface="Calibri"/>
                <a:sym typeface="Calibri"/>
              </a:rPr>
              <a:t>LR hyperparameter for other optimizer was 10x larger than Adam (0.01 vs 0.001)</a:t>
            </a:r>
            <a:br>
              <a:rPr b="0" i="0" lang="en-US" sz="1150" u="none" cap="none" strike="noStrike">
                <a:solidFill>
                  <a:srgbClr val="64748B"/>
                </a:solidFill>
                <a:latin typeface="Calibri"/>
                <a:ea typeface="Calibri"/>
                <a:cs typeface="Calibri"/>
                <a:sym typeface="Calibri"/>
              </a:rPr>
            </a:br>
            <a:br>
              <a:rPr b="0" i="0" lang="en-US" sz="1150" u="none" cap="none" strike="noStrike">
                <a:solidFill>
                  <a:srgbClr val="64748B"/>
                </a:solidFill>
                <a:latin typeface="Calibri"/>
                <a:ea typeface="Calibri"/>
                <a:cs typeface="Calibri"/>
                <a:sym typeface="Calibri"/>
              </a:rPr>
            </a:br>
            <a:r>
              <a:rPr b="1" lang="en-US" sz="1150">
                <a:solidFill>
                  <a:srgbClr val="64748B"/>
                </a:solidFill>
                <a:latin typeface="Calibri"/>
                <a:ea typeface="Calibri"/>
                <a:cs typeface="Calibri"/>
                <a:sym typeface="Calibri"/>
              </a:rPr>
              <a:t>Change</a:t>
            </a:r>
            <a:r>
              <a:rPr b="1" i="0" lang="en-US" sz="1150" u="none" cap="none" strike="noStrike">
                <a:solidFill>
                  <a:srgbClr val="64748B"/>
                </a:solidFill>
                <a:latin typeface="Calibri"/>
                <a:ea typeface="Calibri"/>
                <a:cs typeface="Calibri"/>
                <a:sym typeface="Calibri"/>
              </a:rPr>
              <a:t>: </a:t>
            </a:r>
            <a:r>
              <a:rPr lang="en-US" sz="1150">
                <a:solidFill>
                  <a:srgbClr val="64748B"/>
                </a:solidFill>
                <a:latin typeface="Calibri"/>
                <a:ea typeface="Calibri"/>
                <a:cs typeface="Calibri"/>
                <a:sym typeface="Calibri"/>
              </a:rPr>
              <a:t>All optimizers now have the same LR (0.001)</a:t>
            </a:r>
            <a:endParaRPr sz="1150">
              <a:solidFill>
                <a:srgbClr val="64748B"/>
              </a:solidFill>
              <a:latin typeface="Calibri"/>
              <a:ea typeface="Calibri"/>
              <a:cs typeface="Calibri"/>
              <a:sym typeface="Calibri"/>
            </a:endParaRPr>
          </a:p>
          <a:p>
            <a:pPr indent="0" lvl="0" marL="0" marR="0" rtl="0" algn="l">
              <a:spcBef>
                <a:spcPts val="0"/>
              </a:spcBef>
              <a:spcAft>
                <a:spcPts val="0"/>
              </a:spcAft>
              <a:buClr>
                <a:srgbClr val="64748B"/>
              </a:buClr>
              <a:buSzPts val="1150"/>
              <a:buFont typeface="Calibri"/>
              <a:buNone/>
            </a:pPr>
            <a:br>
              <a:rPr b="0" i="0" lang="en-US" sz="1150" u="none" cap="none" strike="noStrike">
                <a:solidFill>
                  <a:srgbClr val="64748B"/>
                </a:solidFill>
                <a:latin typeface="Calibri"/>
                <a:ea typeface="Calibri"/>
                <a:cs typeface="Calibri"/>
                <a:sym typeface="Calibri"/>
              </a:rPr>
            </a:br>
            <a:r>
              <a:rPr b="1" i="0" lang="en-US" sz="1150" u="none" cap="none" strike="noStrike">
                <a:solidFill>
                  <a:srgbClr val="64748B"/>
                </a:solidFill>
                <a:latin typeface="Calibri"/>
                <a:ea typeface="Calibri"/>
                <a:cs typeface="Calibri"/>
                <a:sym typeface="Calibri"/>
              </a:rPr>
              <a:t>Why this matters: </a:t>
            </a:r>
            <a:r>
              <a:rPr lang="en-US" sz="1150">
                <a:solidFill>
                  <a:srgbClr val="64748B"/>
                </a:solidFill>
                <a:latin typeface="Calibri"/>
                <a:ea typeface="Calibri"/>
                <a:cs typeface="Calibri"/>
                <a:sym typeface="Calibri"/>
              </a:rPr>
              <a:t>With LR difference, </a:t>
            </a:r>
            <a:r>
              <a:rPr lang="en-US" sz="1150">
                <a:solidFill>
                  <a:srgbClr val="64748B"/>
                </a:solidFill>
                <a:latin typeface="Calibri"/>
                <a:ea typeface="Calibri"/>
                <a:cs typeface="Calibri"/>
                <a:sym typeface="Calibri"/>
              </a:rPr>
              <a:t>RMSProp and AdaGrad converge faster than Adam. It is important for all optimizers to work on the same field </a:t>
            </a:r>
            <a:endParaRPr b="0" i="0" sz="1150" u="none" cap="none" strike="noStrike">
              <a:solidFill>
                <a:schemeClr val="dk1"/>
              </a:solidFill>
              <a:latin typeface="Calibri"/>
              <a:ea typeface="Calibri"/>
              <a:cs typeface="Calibri"/>
              <a:sym typeface="Calibri"/>
            </a:endParaRPr>
          </a:p>
        </p:txBody>
      </p:sp>
      <p:sp>
        <p:nvSpPr>
          <p:cNvPr id="125" name="Google Shape;125;p7"/>
          <p:cNvSpPr/>
          <p:nvPr/>
        </p:nvSpPr>
        <p:spPr>
          <a:xfrm>
            <a:off x="4526280" y="1143000"/>
            <a:ext cx="4251960" cy="3611880"/>
          </a:xfrm>
          <a:prstGeom prst="rect">
            <a:avLst/>
          </a:prstGeom>
          <a:solidFill>
            <a:srgbClr val="F0FDF4"/>
          </a:solidFill>
          <a:ln cap="flat" cmpd="sng" w="9525">
            <a:solidFill>
              <a:srgbClr val="CBD5E1"/>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
          <p:cNvSpPr/>
          <p:nvPr/>
        </p:nvSpPr>
        <p:spPr>
          <a:xfrm>
            <a:off x="4526280" y="1143000"/>
            <a:ext cx="4251960" cy="4572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4663440" y="1234440"/>
            <a:ext cx="3931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300"/>
              <a:buFont typeface="Calibri"/>
              <a:buNone/>
            </a:pPr>
            <a:r>
              <a:rPr b="1" i="0" lang="en-US" sz="1300" u="none" cap="none" strike="noStrike">
                <a:solidFill>
                  <a:srgbClr val="1E293B"/>
                </a:solidFill>
                <a:latin typeface="Calibri"/>
                <a:ea typeface="Calibri"/>
                <a:cs typeface="Calibri"/>
                <a:sym typeface="Calibri"/>
              </a:rPr>
              <a:t>Expected Effect of Fix</a:t>
            </a:r>
            <a:endParaRPr b="0" i="0" sz="1300" u="none" cap="none" strike="noStrike">
              <a:solidFill>
                <a:schemeClr val="dk1"/>
              </a:solidFill>
              <a:latin typeface="Calibri"/>
              <a:ea typeface="Calibri"/>
              <a:cs typeface="Calibri"/>
              <a:sym typeface="Calibri"/>
            </a:endParaRPr>
          </a:p>
        </p:txBody>
      </p:sp>
      <p:sp>
        <p:nvSpPr>
          <p:cNvPr id="128" name="Google Shape;128;p7"/>
          <p:cNvSpPr/>
          <p:nvPr/>
        </p:nvSpPr>
        <p:spPr>
          <a:xfrm>
            <a:off x="4663440" y="1664208"/>
            <a:ext cx="39319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150"/>
              <a:buFont typeface="Calibri"/>
              <a:buNone/>
            </a:pPr>
            <a:r>
              <a:rPr b="1" lang="en-US" sz="1150">
                <a:solidFill>
                  <a:srgbClr val="1E293B"/>
                </a:solidFill>
                <a:latin typeface="Calibri"/>
                <a:ea typeface="Calibri"/>
                <a:cs typeface="Calibri"/>
                <a:sym typeface="Calibri"/>
              </a:rPr>
              <a:t>Fairer Comparison - Convergence should match the paper</a:t>
            </a:r>
            <a:endParaRPr b="0" i="0" sz="1150" u="none" cap="none" strike="noStrike">
              <a:solidFill>
                <a:schemeClr val="dk1"/>
              </a:solidFill>
              <a:latin typeface="Calibri"/>
              <a:ea typeface="Calibri"/>
              <a:cs typeface="Calibri"/>
              <a:sym typeface="Calibri"/>
            </a:endParaRPr>
          </a:p>
        </p:txBody>
      </p:sp>
      <p:sp>
        <p:nvSpPr>
          <p:cNvPr id="129" name="Google Shape;129;p7"/>
          <p:cNvSpPr/>
          <p:nvPr/>
        </p:nvSpPr>
        <p:spPr>
          <a:xfrm>
            <a:off x="4663440" y="1920240"/>
            <a:ext cx="3931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lang="en-US" sz="1050">
                <a:solidFill>
                  <a:srgbClr val="64748B"/>
                </a:solidFill>
                <a:latin typeface="Calibri"/>
                <a:ea typeface="Calibri"/>
                <a:cs typeface="Calibri"/>
                <a:sym typeface="Calibri"/>
              </a:rPr>
              <a:t>With all LRs matching, all of the loss curves should hold the same general shape. AdaGrad was converging faster because the larger LR was making it take larger steps, counteracting accumulating gradients.</a:t>
            </a:r>
            <a:endParaRPr b="0" i="0" sz="1050" u="none" cap="none" strike="noStrike">
              <a:solidFill>
                <a:schemeClr val="dk1"/>
              </a:solidFill>
              <a:latin typeface="Calibri"/>
              <a:ea typeface="Calibri"/>
              <a:cs typeface="Calibri"/>
              <a:sym typeface="Calibri"/>
            </a:endParaRPr>
          </a:p>
        </p:txBody>
      </p:sp>
      <p:sp>
        <p:nvSpPr>
          <p:cNvPr id="130" name="Google Shape;130;p7"/>
          <p:cNvSpPr/>
          <p:nvPr/>
        </p:nvSpPr>
        <p:spPr>
          <a:xfrm>
            <a:off x="4663440" y="2926080"/>
            <a:ext cx="3931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50"/>
              <a:buFont typeface="Calibri"/>
              <a:buNone/>
            </a:pPr>
            <a:r>
              <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8"/>
          <p:cNvSpPr/>
          <p:nvPr/>
        </p:nvSpPr>
        <p:spPr>
          <a:xfrm>
            <a:off x="365760" y="164592"/>
            <a:ext cx="1645920" cy="292608"/>
          </a:xfrm>
          <a:prstGeom prst="roundRect">
            <a:avLst>
              <a:gd fmla="val 18750" name="adj"/>
            </a:avLst>
          </a:prstGeom>
          <a:solidFill>
            <a:srgbClr val="E05C00"/>
          </a:solidFill>
          <a:ln cap="flat" cmpd="sng" w="12700">
            <a:solidFill>
              <a:srgbClr val="E05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8"/>
          <p:cNvSpPr/>
          <p:nvPr/>
        </p:nvSpPr>
        <p:spPr>
          <a:xfrm>
            <a:off x="365760" y="164592"/>
            <a:ext cx="16459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00"/>
              <a:buFont typeface="Calibri"/>
              <a:buNone/>
            </a:pPr>
            <a:r>
              <a:rPr b="1" i="0" lang="en-US" sz="800" u="none" cap="none" strike="noStrike">
                <a:solidFill>
                  <a:srgbClr val="FFFFFF"/>
                </a:solidFill>
                <a:latin typeface="Calibri"/>
                <a:ea typeface="Calibri"/>
                <a:cs typeface="Calibri"/>
                <a:sym typeface="Calibri"/>
              </a:rPr>
              <a:t>REFLECTION</a:t>
            </a:r>
            <a:endParaRPr b="0" i="0" sz="800" u="none" cap="none" strike="noStrike">
              <a:solidFill>
                <a:schemeClr val="dk1"/>
              </a:solidFill>
              <a:latin typeface="Calibri"/>
              <a:ea typeface="Calibri"/>
              <a:cs typeface="Calibri"/>
              <a:sym typeface="Calibri"/>
            </a:endParaRPr>
          </a:p>
        </p:txBody>
      </p:sp>
      <p:sp>
        <p:nvSpPr>
          <p:cNvPr id="138" name="Google Shape;138;p8"/>
          <p:cNvSpPr/>
          <p:nvPr/>
        </p:nvSpPr>
        <p:spPr>
          <a:xfrm>
            <a:off x="365760" y="502920"/>
            <a:ext cx="84124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2600"/>
              <a:buFont typeface="Calibri"/>
              <a:buNone/>
            </a:pPr>
            <a:r>
              <a:rPr b="1" lang="en-US" sz="2600">
                <a:solidFill>
                  <a:srgbClr val="1E293B"/>
                </a:solidFill>
                <a:latin typeface="Calibri"/>
                <a:ea typeface="Calibri"/>
                <a:cs typeface="Calibri"/>
                <a:sym typeface="Calibri"/>
              </a:rPr>
              <a:t>Reflection</a:t>
            </a:r>
            <a:endParaRPr b="0" i="0" sz="2600" u="none" cap="none" strike="noStrike">
              <a:solidFill>
                <a:schemeClr val="dk1"/>
              </a:solidFill>
              <a:latin typeface="Calibri"/>
              <a:ea typeface="Calibri"/>
              <a:cs typeface="Calibri"/>
              <a:sym typeface="Calibri"/>
            </a:endParaRPr>
          </a:p>
        </p:txBody>
      </p:sp>
      <p:sp>
        <p:nvSpPr>
          <p:cNvPr id="139" name="Google Shape;139;p8"/>
          <p:cNvSpPr/>
          <p:nvPr/>
        </p:nvSpPr>
        <p:spPr>
          <a:xfrm>
            <a:off x="365760" y="1143000"/>
            <a:ext cx="4023360" cy="1737360"/>
          </a:xfrm>
          <a:prstGeom prst="rect">
            <a:avLst/>
          </a:prstGeom>
          <a:solidFill>
            <a:srgbClr val="F4F6F8"/>
          </a:solidFill>
          <a:ln cap="flat" cmpd="sng" w="9525">
            <a:solidFill>
              <a:srgbClr val="CBD5E1"/>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365760" y="1143000"/>
            <a:ext cx="384048" cy="38404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365760" y="1143000"/>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01</a:t>
            </a:r>
            <a:endParaRPr b="0" i="0" sz="1200" u="none" cap="none" strike="noStrike">
              <a:solidFill>
                <a:schemeClr val="dk1"/>
              </a:solidFill>
              <a:latin typeface="Calibri"/>
              <a:ea typeface="Calibri"/>
              <a:cs typeface="Calibri"/>
              <a:sym typeface="Calibri"/>
            </a:endParaRPr>
          </a:p>
        </p:txBody>
      </p:sp>
      <p:sp>
        <p:nvSpPr>
          <p:cNvPr id="142" name="Google Shape;142;p8"/>
          <p:cNvSpPr/>
          <p:nvPr/>
        </p:nvSpPr>
        <p:spPr>
          <a:xfrm>
            <a:off x="841248" y="1197864"/>
            <a:ext cx="3429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Paper ambiguity</a:t>
            </a:r>
            <a:endParaRPr b="0" i="0" sz="1200" u="none" cap="none" strike="noStrike">
              <a:solidFill>
                <a:schemeClr val="dk1"/>
              </a:solidFill>
              <a:latin typeface="Calibri"/>
              <a:ea typeface="Calibri"/>
              <a:cs typeface="Calibri"/>
              <a:sym typeface="Calibri"/>
            </a:endParaRPr>
          </a:p>
        </p:txBody>
      </p:sp>
      <p:sp>
        <p:nvSpPr>
          <p:cNvPr id="143" name="Google Shape;143;p8"/>
          <p:cNvSpPr/>
          <p:nvPr/>
        </p:nvSpPr>
        <p:spPr>
          <a:xfrm>
            <a:off x="502920" y="1581912"/>
            <a:ext cx="3749040"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The paper doesn't specify weight initialization, exact LR values per optimizer, or whether the y-axis is log scale. These silences force interpretive choices that directly affect reproducibility.</a:t>
            </a:r>
            <a:endParaRPr b="0" i="0" sz="1050" u="none" cap="none" strike="noStrike">
              <a:solidFill>
                <a:schemeClr val="dk1"/>
              </a:solidFill>
              <a:latin typeface="Calibri"/>
              <a:ea typeface="Calibri"/>
              <a:cs typeface="Calibri"/>
              <a:sym typeface="Calibri"/>
            </a:endParaRPr>
          </a:p>
        </p:txBody>
      </p:sp>
      <p:sp>
        <p:nvSpPr>
          <p:cNvPr id="144" name="Google Shape;144;p8"/>
          <p:cNvSpPr/>
          <p:nvPr/>
        </p:nvSpPr>
        <p:spPr>
          <a:xfrm>
            <a:off x="365760" y="3044952"/>
            <a:ext cx="4023360" cy="1737360"/>
          </a:xfrm>
          <a:prstGeom prst="rect">
            <a:avLst/>
          </a:prstGeom>
          <a:solidFill>
            <a:srgbClr val="F4F6F8"/>
          </a:solidFill>
          <a:ln cap="flat" cmpd="sng" w="9525">
            <a:solidFill>
              <a:srgbClr val="CBD5E1"/>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8"/>
          <p:cNvSpPr/>
          <p:nvPr/>
        </p:nvSpPr>
        <p:spPr>
          <a:xfrm>
            <a:off x="365760" y="3044952"/>
            <a:ext cx="384048" cy="384048"/>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8"/>
          <p:cNvSpPr/>
          <p:nvPr/>
        </p:nvSpPr>
        <p:spPr>
          <a:xfrm>
            <a:off x="365760" y="3044952"/>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0</a:t>
            </a:r>
            <a:r>
              <a:rPr b="1" lang="en-US" sz="1200">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47" name="Google Shape;147;p8"/>
          <p:cNvSpPr/>
          <p:nvPr/>
        </p:nvSpPr>
        <p:spPr>
          <a:xfrm>
            <a:off x="841248" y="3099816"/>
            <a:ext cx="34290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Qualitative vs. quantitative match</a:t>
            </a:r>
            <a:endParaRPr b="0" i="0" sz="1200" u="none" cap="none" strike="noStrike">
              <a:solidFill>
                <a:schemeClr val="dk1"/>
              </a:solidFill>
              <a:latin typeface="Calibri"/>
              <a:ea typeface="Calibri"/>
              <a:cs typeface="Calibri"/>
              <a:sym typeface="Calibri"/>
            </a:endParaRPr>
          </a:p>
        </p:txBody>
      </p:sp>
      <p:sp>
        <p:nvSpPr>
          <p:cNvPr id="148" name="Google Shape;148;p8"/>
          <p:cNvSpPr/>
          <p:nvPr/>
        </p:nvSpPr>
        <p:spPr>
          <a:xfrm>
            <a:off x="502920" y="3483864"/>
            <a:ext cx="3749040" cy="12344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The qualitative claim — Adam ≥ SGD+Nesterov &gt; AdaGrad (Ex1), Adam &gt;&gt; all others (Ex2) — is reproduced. Exact loss values differ. This is the honest version of reproduction.</a:t>
            </a:r>
            <a:endParaRPr b="0" i="0" sz="1050" u="none" cap="none" strike="noStrike">
              <a:solidFill>
                <a:schemeClr val="dk1"/>
              </a:solidFill>
              <a:latin typeface="Calibri"/>
              <a:ea typeface="Calibri"/>
              <a:cs typeface="Calibri"/>
              <a:sym typeface="Calibri"/>
            </a:endParaRPr>
          </a:p>
        </p:txBody>
      </p:sp>
      <p:sp>
        <p:nvSpPr>
          <p:cNvPr id="149" name="Google Shape;149;p8"/>
          <p:cNvSpPr/>
          <p:nvPr/>
        </p:nvSpPr>
        <p:spPr>
          <a:xfrm>
            <a:off x="4663440" y="1143002"/>
            <a:ext cx="4023300" cy="1737300"/>
          </a:xfrm>
          <a:prstGeom prst="rect">
            <a:avLst/>
          </a:prstGeom>
          <a:solidFill>
            <a:srgbClr val="F4F6F8"/>
          </a:solidFill>
          <a:ln cap="flat" cmpd="sng" w="9525">
            <a:solidFill>
              <a:srgbClr val="CBD5E1"/>
            </a:solidFill>
            <a:prstDash val="solid"/>
            <a:round/>
            <a:headEnd len="sm" w="sm" type="none"/>
            <a:tailEnd len="sm" w="sm" type="none"/>
          </a:ln>
          <a:effectLst>
            <a:outerShdw blurRad="50800" rotWithShape="0" algn="bl" dir="81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p:nvPr/>
        </p:nvSpPr>
        <p:spPr>
          <a:xfrm>
            <a:off x="4663440" y="1143002"/>
            <a:ext cx="384000" cy="384000"/>
          </a:xfrm>
          <a:prstGeom prst="rect">
            <a:avLst/>
          </a:prstGeom>
          <a:solidFill>
            <a:srgbClr val="0D1B2A"/>
          </a:solidFill>
          <a:ln cap="flat" cmpd="sng" w="12700">
            <a:solidFill>
              <a:srgbClr val="0D1B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8"/>
          <p:cNvSpPr/>
          <p:nvPr/>
        </p:nvSpPr>
        <p:spPr>
          <a:xfrm>
            <a:off x="4663440" y="1143002"/>
            <a:ext cx="384000" cy="384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0</a:t>
            </a:r>
            <a:r>
              <a:rPr b="1" lang="en-US" sz="1200">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52" name="Google Shape;152;p8"/>
          <p:cNvSpPr/>
          <p:nvPr/>
        </p:nvSpPr>
        <p:spPr>
          <a:xfrm>
            <a:off x="5138928" y="1197866"/>
            <a:ext cx="3429000" cy="292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LR schedule interacts with adaptivity</a:t>
            </a:r>
            <a:endParaRPr b="0" i="0" sz="1200" u="none" cap="none" strike="noStrike">
              <a:solidFill>
                <a:schemeClr val="dk1"/>
              </a:solidFill>
              <a:latin typeface="Calibri"/>
              <a:ea typeface="Calibri"/>
              <a:cs typeface="Calibri"/>
              <a:sym typeface="Calibri"/>
            </a:endParaRPr>
          </a:p>
        </p:txBody>
      </p:sp>
      <p:sp>
        <p:nvSpPr>
          <p:cNvPr id="153" name="Google Shape;153;p8"/>
          <p:cNvSpPr/>
          <p:nvPr/>
        </p:nvSpPr>
        <p:spPr>
          <a:xfrm>
            <a:off x="4800600" y="1581914"/>
            <a:ext cx="3749100" cy="1234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4748B"/>
              </a:buClr>
              <a:buSzPts val="1050"/>
              <a:buFont typeface="Calibri"/>
              <a:buNone/>
            </a:pPr>
            <a:r>
              <a:rPr b="0" i="0" lang="en-US" sz="1050" u="none" cap="none" strike="noStrike">
                <a:solidFill>
                  <a:srgbClr val="64748B"/>
                </a:solidFill>
                <a:latin typeface="Calibri"/>
                <a:ea typeface="Calibri"/>
                <a:cs typeface="Calibri"/>
                <a:sym typeface="Calibri"/>
              </a:rPr>
              <a:t>Applying 1/√t decay uniformly to adaptive methods (AdaGrad, Adam) double-decays their effective step size. The paper is ambiguous on whether this was intended for all optimizers.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2A"/>
        </a:solidFill>
      </p:bgPr>
    </p:bg>
    <p:spTree>
      <p:nvGrpSpPr>
        <p:cNvPr id="158" name="Shape 158"/>
        <p:cNvGrpSpPr/>
        <p:nvPr/>
      </p:nvGrpSpPr>
      <p:grpSpPr>
        <a:xfrm>
          <a:off x="0" y="0"/>
          <a:ext cx="0" cy="0"/>
          <a:chOff x="0" y="0"/>
          <a:chExt cx="0" cy="0"/>
        </a:xfrm>
      </p:grpSpPr>
      <p:sp>
        <p:nvSpPr>
          <p:cNvPr id="159" name="Google Shape;159;p9"/>
          <p:cNvSpPr/>
          <p:nvPr/>
        </p:nvSpPr>
        <p:spPr>
          <a:xfrm>
            <a:off x="0" y="0"/>
            <a:ext cx="164592" cy="5143500"/>
          </a:xfrm>
          <a:prstGeom prst="rect">
            <a:avLst/>
          </a:prstGeom>
          <a:solidFill>
            <a:srgbClr val="E05C00"/>
          </a:solidFill>
          <a:ln cap="flat" cmpd="sng" w="12700">
            <a:solidFill>
              <a:srgbClr val="E05C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9"/>
          <p:cNvSpPr/>
          <p:nvPr/>
        </p:nvSpPr>
        <p:spPr>
          <a:xfrm>
            <a:off x="457200" y="41148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AI Use Disclosure</a:t>
            </a:r>
            <a:endParaRPr b="0" i="0" sz="2800" u="none" cap="none" strike="noStrike">
              <a:solidFill>
                <a:schemeClr val="dk1"/>
              </a:solidFill>
              <a:latin typeface="Calibri"/>
              <a:ea typeface="Calibri"/>
              <a:cs typeface="Calibri"/>
              <a:sym typeface="Calibri"/>
            </a:endParaRPr>
          </a:p>
        </p:txBody>
      </p:sp>
      <p:sp>
        <p:nvSpPr>
          <p:cNvPr id="161" name="Google Shape;161;p9"/>
          <p:cNvSpPr/>
          <p:nvPr/>
        </p:nvSpPr>
        <p:spPr>
          <a:xfrm>
            <a:off x="457200" y="1051560"/>
            <a:ext cx="8229600" cy="804672"/>
          </a:xfrm>
          <a:prstGeom prst="rect">
            <a:avLst/>
          </a:prstGeom>
          <a:solidFill>
            <a:srgbClr val="112233"/>
          </a:solidFill>
          <a:ln cap="flat" cmpd="sng" w="12700">
            <a:solidFill>
              <a:srgbClr val="1B2E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594360" y="1097280"/>
            <a:ext cx="2011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7B2A"/>
              </a:buClr>
              <a:buSzPts val="1100"/>
              <a:buFont typeface="Calibri"/>
              <a:buNone/>
            </a:pPr>
            <a:r>
              <a:rPr b="1" i="0" lang="en-US" sz="1100" u="none" cap="none" strike="noStrike">
                <a:solidFill>
                  <a:srgbClr val="F47B2A"/>
                </a:solidFill>
                <a:latin typeface="Calibri"/>
                <a:ea typeface="Calibri"/>
                <a:cs typeface="Calibri"/>
                <a:sym typeface="Calibri"/>
              </a:rPr>
              <a:t>Code scaffolding</a:t>
            </a:r>
            <a:endParaRPr b="0" i="0" sz="1100" u="none" cap="none" strike="noStrike">
              <a:solidFill>
                <a:schemeClr val="dk1"/>
              </a:solidFill>
              <a:latin typeface="Calibri"/>
              <a:ea typeface="Calibri"/>
              <a:cs typeface="Calibri"/>
              <a:sym typeface="Calibri"/>
            </a:endParaRPr>
          </a:p>
        </p:txBody>
      </p:sp>
      <p:sp>
        <p:nvSpPr>
          <p:cNvPr id="163" name="Google Shape;163;p9"/>
          <p:cNvSpPr/>
          <p:nvPr/>
        </p:nvSpPr>
        <p:spPr>
          <a:xfrm>
            <a:off x="594360" y="1380744"/>
            <a:ext cx="7863840" cy="4023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1050"/>
              <a:buFont typeface="Calibri"/>
              <a:buNone/>
            </a:pPr>
            <a:r>
              <a:rPr b="0" i="0" lang="en-US" sz="1050" u="none" cap="none" strike="noStrike">
                <a:solidFill>
                  <a:srgbClr val="CBD5E1"/>
                </a:solidFill>
                <a:latin typeface="Calibri"/>
                <a:ea typeface="Calibri"/>
                <a:cs typeface="Calibri"/>
                <a:sym typeface="Calibri"/>
              </a:rPr>
              <a:t>Claude (Anthropic) used to generate initial ex1.py and ex2.py structure, hyperparameters.yaml layout, and the pptx generation script.</a:t>
            </a:r>
            <a:endParaRPr b="0" i="0" sz="1050" u="none" cap="none" strike="noStrike">
              <a:solidFill>
                <a:schemeClr val="dk1"/>
              </a:solidFill>
              <a:latin typeface="Calibri"/>
              <a:ea typeface="Calibri"/>
              <a:cs typeface="Calibri"/>
              <a:sym typeface="Calibri"/>
            </a:endParaRPr>
          </a:p>
        </p:txBody>
      </p:sp>
      <p:sp>
        <p:nvSpPr>
          <p:cNvPr id="164" name="Google Shape;164;p9"/>
          <p:cNvSpPr/>
          <p:nvPr/>
        </p:nvSpPr>
        <p:spPr>
          <a:xfrm>
            <a:off x="457200" y="1993392"/>
            <a:ext cx="8229600" cy="804672"/>
          </a:xfrm>
          <a:prstGeom prst="rect">
            <a:avLst/>
          </a:prstGeom>
          <a:solidFill>
            <a:srgbClr val="112233"/>
          </a:solidFill>
          <a:ln cap="flat" cmpd="sng" w="12700">
            <a:solidFill>
              <a:srgbClr val="1B2E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9"/>
          <p:cNvSpPr/>
          <p:nvPr/>
        </p:nvSpPr>
        <p:spPr>
          <a:xfrm>
            <a:off x="594360" y="2039112"/>
            <a:ext cx="2011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7B2A"/>
              </a:buClr>
              <a:buSzPts val="1100"/>
              <a:buFont typeface="Calibri"/>
              <a:buNone/>
            </a:pPr>
            <a:r>
              <a:rPr b="1" i="0" lang="en-US" sz="1100" u="none" cap="none" strike="noStrike">
                <a:solidFill>
                  <a:srgbClr val="F47B2A"/>
                </a:solidFill>
                <a:latin typeface="Calibri"/>
                <a:ea typeface="Calibri"/>
                <a:cs typeface="Calibri"/>
                <a:sym typeface="Calibri"/>
              </a:rPr>
              <a:t>Debugging assistance</a:t>
            </a:r>
            <a:endParaRPr b="0" i="0" sz="1100" u="none" cap="none" strike="noStrike">
              <a:solidFill>
                <a:schemeClr val="dk1"/>
              </a:solidFill>
              <a:latin typeface="Calibri"/>
              <a:ea typeface="Calibri"/>
              <a:cs typeface="Calibri"/>
              <a:sym typeface="Calibri"/>
            </a:endParaRPr>
          </a:p>
        </p:txBody>
      </p:sp>
      <p:sp>
        <p:nvSpPr>
          <p:cNvPr id="166" name="Google Shape;166;p9"/>
          <p:cNvSpPr/>
          <p:nvPr/>
        </p:nvSpPr>
        <p:spPr>
          <a:xfrm>
            <a:off x="594360" y="2322576"/>
            <a:ext cx="7863840" cy="4023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1050"/>
              <a:buFont typeface="Calibri"/>
              <a:buNone/>
            </a:pPr>
            <a:r>
              <a:rPr b="0" i="0" lang="en-US" sz="1050" u="none" cap="none" strike="noStrike">
                <a:solidFill>
                  <a:srgbClr val="CBD5E1"/>
                </a:solidFill>
                <a:latin typeface="Calibri"/>
                <a:ea typeface="Calibri"/>
                <a:cs typeface="Calibri"/>
                <a:sym typeface="Calibri"/>
              </a:rPr>
              <a:t>AI used to identify the accumulator-reset bug in baseline optimizers and suggest the param_groups fix.</a:t>
            </a:r>
            <a:endParaRPr b="0" i="0" sz="1050" u="none" cap="none" strike="noStrike">
              <a:solidFill>
                <a:schemeClr val="dk1"/>
              </a:solidFill>
              <a:latin typeface="Calibri"/>
              <a:ea typeface="Calibri"/>
              <a:cs typeface="Calibri"/>
              <a:sym typeface="Calibri"/>
            </a:endParaRPr>
          </a:p>
        </p:txBody>
      </p:sp>
      <p:sp>
        <p:nvSpPr>
          <p:cNvPr id="167" name="Google Shape;167;p9"/>
          <p:cNvSpPr/>
          <p:nvPr/>
        </p:nvSpPr>
        <p:spPr>
          <a:xfrm>
            <a:off x="457200" y="2935224"/>
            <a:ext cx="8229600" cy="804672"/>
          </a:xfrm>
          <a:prstGeom prst="rect">
            <a:avLst/>
          </a:prstGeom>
          <a:solidFill>
            <a:srgbClr val="112233"/>
          </a:solidFill>
          <a:ln cap="flat" cmpd="sng" w="12700">
            <a:solidFill>
              <a:srgbClr val="1B2E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
          <p:cNvSpPr/>
          <p:nvPr/>
        </p:nvSpPr>
        <p:spPr>
          <a:xfrm>
            <a:off x="594360" y="2980944"/>
            <a:ext cx="2011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7B2A"/>
              </a:buClr>
              <a:buSzPts val="1100"/>
              <a:buFont typeface="Calibri"/>
              <a:buNone/>
            </a:pPr>
            <a:r>
              <a:rPr b="1" i="0" lang="en-US" sz="1100" u="none" cap="none" strike="noStrike">
                <a:solidFill>
                  <a:srgbClr val="F47B2A"/>
                </a:solidFill>
                <a:latin typeface="Calibri"/>
                <a:ea typeface="Calibri"/>
                <a:cs typeface="Calibri"/>
                <a:sym typeface="Calibri"/>
              </a:rPr>
              <a:t>Not used for</a:t>
            </a:r>
            <a:endParaRPr b="0" i="0" sz="1100" u="none" cap="none" strike="noStrike">
              <a:solidFill>
                <a:schemeClr val="dk1"/>
              </a:solidFill>
              <a:latin typeface="Calibri"/>
              <a:ea typeface="Calibri"/>
              <a:cs typeface="Calibri"/>
              <a:sym typeface="Calibri"/>
            </a:endParaRPr>
          </a:p>
        </p:txBody>
      </p:sp>
      <p:sp>
        <p:nvSpPr>
          <p:cNvPr id="169" name="Google Shape;169;p9"/>
          <p:cNvSpPr/>
          <p:nvPr/>
        </p:nvSpPr>
        <p:spPr>
          <a:xfrm>
            <a:off x="594360" y="3264408"/>
            <a:ext cx="7863840" cy="4023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1050"/>
              <a:buFont typeface="Calibri"/>
              <a:buNone/>
            </a:pPr>
            <a:r>
              <a:rPr b="0" i="0" lang="en-US" sz="1050" u="none" cap="none" strike="noStrike">
                <a:solidFill>
                  <a:srgbClr val="CBD5E1"/>
                </a:solidFill>
                <a:latin typeface="Calibri"/>
                <a:ea typeface="Calibri"/>
                <a:cs typeface="Calibri"/>
                <a:sym typeface="Calibri"/>
              </a:rPr>
              <a:t>All experimental results, plots, and numerical outputs are generated by running the scripts directly. No AI-generated numbers or figures were included.</a:t>
            </a:r>
            <a:endParaRPr b="0" i="0" sz="1050" u="none" cap="none" strike="noStrike">
              <a:solidFill>
                <a:schemeClr val="dk1"/>
              </a:solidFill>
              <a:latin typeface="Calibri"/>
              <a:ea typeface="Calibri"/>
              <a:cs typeface="Calibri"/>
              <a:sym typeface="Calibri"/>
            </a:endParaRPr>
          </a:p>
        </p:txBody>
      </p:sp>
      <p:sp>
        <p:nvSpPr>
          <p:cNvPr id="170" name="Google Shape;170;p9"/>
          <p:cNvSpPr/>
          <p:nvPr/>
        </p:nvSpPr>
        <p:spPr>
          <a:xfrm>
            <a:off x="457200" y="3877056"/>
            <a:ext cx="8229600" cy="804672"/>
          </a:xfrm>
          <a:prstGeom prst="rect">
            <a:avLst/>
          </a:prstGeom>
          <a:solidFill>
            <a:srgbClr val="112233"/>
          </a:solidFill>
          <a:ln cap="flat" cmpd="sng" w="12700">
            <a:solidFill>
              <a:srgbClr val="1B2E4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9"/>
          <p:cNvSpPr/>
          <p:nvPr/>
        </p:nvSpPr>
        <p:spPr>
          <a:xfrm>
            <a:off x="594360" y="3922776"/>
            <a:ext cx="20116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47B2A"/>
              </a:buClr>
              <a:buSzPts val="1100"/>
              <a:buFont typeface="Calibri"/>
              <a:buNone/>
            </a:pPr>
            <a:r>
              <a:rPr b="1" i="0" lang="en-US" sz="1100" u="none" cap="none" strike="noStrike">
                <a:solidFill>
                  <a:srgbClr val="F47B2A"/>
                </a:solidFill>
                <a:latin typeface="Calibri"/>
                <a:ea typeface="Calibri"/>
                <a:cs typeface="Calibri"/>
                <a:sym typeface="Calibri"/>
              </a:rPr>
              <a:t>Report </a:t>
            </a:r>
            <a:r>
              <a:rPr b="1" lang="en-US" sz="1100">
                <a:solidFill>
                  <a:srgbClr val="F47B2A"/>
                </a:solidFill>
                <a:latin typeface="Calibri"/>
                <a:ea typeface="Calibri"/>
                <a:cs typeface="Calibri"/>
                <a:sym typeface="Calibri"/>
              </a:rPr>
              <a:t>writing</a:t>
            </a:r>
            <a:endParaRPr b="0" i="0" sz="1100" u="none" cap="none" strike="noStrike">
              <a:solidFill>
                <a:schemeClr val="dk1"/>
              </a:solidFill>
              <a:latin typeface="Calibri"/>
              <a:ea typeface="Calibri"/>
              <a:cs typeface="Calibri"/>
              <a:sym typeface="Calibri"/>
            </a:endParaRPr>
          </a:p>
        </p:txBody>
      </p:sp>
      <p:sp>
        <p:nvSpPr>
          <p:cNvPr id="172" name="Google Shape;172;p9"/>
          <p:cNvSpPr/>
          <p:nvPr/>
        </p:nvSpPr>
        <p:spPr>
          <a:xfrm>
            <a:off x="594360" y="4206240"/>
            <a:ext cx="7863840" cy="402336"/>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1050"/>
              <a:buFont typeface="Calibri"/>
              <a:buNone/>
            </a:pPr>
            <a:r>
              <a:rPr b="0" i="0" lang="en-US" sz="1050" u="none" cap="none" strike="noStrike">
                <a:solidFill>
                  <a:srgbClr val="CBD5E1"/>
                </a:solidFill>
                <a:latin typeface="Calibri"/>
                <a:ea typeface="Calibri"/>
                <a:cs typeface="Calibri"/>
                <a:sym typeface="Calibri"/>
              </a:rPr>
              <a:t>Handwritten report sections (Paper Summary, Results, Discrepancy Analysis, Reflection) written independently. AI consulted for clarification of concepts only.</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2026-05-03T23:47:57Z</dcterms:created>
  <dc:creator>PptxGenJS</dc:creator>
</cp:coreProperties>
</file>